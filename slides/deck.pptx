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c:v>
                </c:pt>
              </c:strCache>
            </c:strRef>
          </c:tx>
          <c:spPr>
            <a:solidFill>
              <a:srgbClr val="C0392B"/>
            </a:solidFill>
            <a:ln w="4445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Sheet1!$B$2:$B$12</c:f>
              <c:numCache>
                <c:formatCode>General</c:formatCode>
                <c:ptCount val="11"/>
                <c:pt idx="0">
                  <c:v>0.01</c:v>
                </c:pt>
                <c:pt idx="1">
                  <c:v>0.009095325760829623</c:v>
                </c:pt>
                <c:pt idx="2">
                  <c:v>0.008180521460508584</c:v>
                </c:pt>
                <c:pt idx="3">
                  <c:v>0.007254178469372199</c:v>
                </c:pt>
                <c:pt idx="4">
                  <c:v>0.006314458674893553</c:v>
                </c:pt>
                <c:pt idx="5">
                  <c:v>0.005358867312681466</c:v>
                </c:pt>
                <c:pt idx="6">
                  <c:v>0.0043838329055408696</c:v>
                </c:pt>
                <c:pt idx="7">
                  <c:v>0.0033838346190164987</c:v>
                </c:pt>
                <c:pt idx="8">
                  <c:v>0.0023492378861760376</c:v>
                </c:pt>
                <c:pt idx="9">
                  <c:v>0.001258925411794167</c:v>
                </c:pt>
                <c:pt idx="1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280"/>
                    </a:solidFill>
                    <a:latin typeface="Segoe UI"/>
                  </a:defRPr>
                </a:pPr>
                <a:r>
                  <a:rPr sz="1100" b="0" i="0" u="none" strike="noStrike">
                    <a:solidFill>
                      <a:srgbClr val="6B7280"/>
                    </a:solidFill>
                    <a:latin typeface="Segoe UI"/>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CF1"/>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Segoe U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c:v>
                </c:pt>
              </c:strCache>
            </c:strRef>
          </c:tx>
          <c:spPr>
            <a:solidFill>
              <a:srgbClr val="1F2933"/>
            </a:solidFill>
            <a:ln w="44450" cap="flat">
              <a:solidFill>
                <a:srgbClr val="1F29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2933"/>
              </a:solidFill>
              <a:ln w="9525" cap="flat">
                <a:solidFill>
                  <a:srgbClr val="1F2933"/>
                </a:solidFill>
                <a:prstDash val="solid"/>
                <a:round/>
              </a:ln>
              <a:effectLst/>
            </c:spPr>
          </c:marker>
          <c:cat>
            <c:multiLvlStrRef>
              <c:f>Sheet1!$A$2:$A$12</c:f>
              <c:multiLvlStrCache>
                <c:ptCount val="11"/>
                <c:lvl>
                  <c:pt idx="0">
                    <c:v>0</c:v>
                  </c:pt>
                  <c:pt idx="1">
                    <c:v>5</c:v>
                  </c:pt>
                  <c:pt idx="2">
                    <c:v>10</c:v>
                  </c:pt>
                  <c:pt idx="3">
                    <c:v>15</c:v>
                  </c:pt>
                  <c:pt idx="4">
                    <c:v>20</c:v>
                  </c:pt>
                  <c:pt idx="5">
                    <c:v>25</c:v>
                  </c:pt>
                  <c:pt idx="6">
                    <c:v>30</c:v>
                  </c:pt>
                  <c:pt idx="7">
                    <c:v>35</c:v>
                  </c:pt>
                  <c:pt idx="8">
                    <c:v>40</c:v>
                  </c:pt>
                  <c:pt idx="9">
                    <c:v>45</c:v>
                  </c:pt>
                  <c:pt idx="10">
                    <c:v>50</c:v>
                  </c:pt>
                </c:lvl>
              </c:multiLvlStrCache>
            </c:multiLvlStrRef>
          </c:cat>
          <c:val>
            <c:numRef>
              <c:f>Sheet1!$B$2:$B$12</c:f>
              <c:numCache>
                <c:formatCode>General</c:formatCode>
                <c:ptCount val="11"/>
                <c:pt idx="0">
                  <c:v>0.00002</c:v>
                </c:pt>
                <c:pt idx="1">
                  <c:v>0.00012000000000000002</c:v>
                </c:pt>
                <c:pt idx="2">
                  <c:v>0.00022</c:v>
                </c:pt>
                <c:pt idx="3">
                  <c:v>0.00032</c:v>
                </c:pt>
                <c:pt idx="4">
                  <c:v>0.00042</c:v>
                </c:pt>
                <c:pt idx="5">
                  <c:v>0.0005200000000000001</c:v>
                </c:pt>
                <c:pt idx="6">
                  <c:v>0.00062</c:v>
                </c:pt>
                <c:pt idx="7">
                  <c:v>0.00072</c:v>
                </c:pt>
                <c:pt idx="8">
                  <c:v>0.0008200000000000001</c:v>
                </c:pt>
                <c:pt idx="9">
                  <c:v>0.00092</c:v>
                </c:pt>
                <c:pt idx="10">
                  <c:v>0.00102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280"/>
                    </a:solidFill>
                    <a:latin typeface="Segoe UI"/>
                  </a:defRPr>
                </a:pPr>
                <a:r>
                  <a:rPr sz="1100" b="0" i="0" u="none" strike="noStrike">
                    <a:solidFill>
                      <a:srgbClr val="6B7280"/>
                    </a:solidFill>
                    <a:latin typeface="Segoe UI"/>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CF1"/>
              </a:solidFill>
              <a:prstDash val="solid"/>
              <a:round/>
            </a:ln>
          </c:spPr>
        </c:majorGridlines>
        <c:numFmt formatCode="0.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Segoe U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c:v>
                </c:pt>
              </c:strCache>
            </c:strRef>
          </c:tx>
          <c:spPr>
            <a:solidFill>
              <a:srgbClr val="1F2933"/>
            </a:solidFill>
            <a:ln w="44450" cap="flat">
              <a:solidFill>
                <a:srgbClr val="1F29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2933"/>
              </a:solidFill>
              <a:ln w="9525" cap="flat">
                <a:solidFill>
                  <a:srgbClr val="1F2933"/>
                </a:solidFill>
                <a:prstDash val="solid"/>
                <a:round/>
              </a:ln>
              <a:effectLst/>
            </c:spPr>
          </c:marker>
          <c:cat>
            <c:multiLvlStrRef>
              <c:f>Sheet1!$A$2:$A$11</c:f>
              <c:multiLvlStrCache>
                <c:ptCount val="10"/>
                <c:lvl>
                  <c:pt idx="0">
                    <c:v>50</c:v>
                  </c:pt>
                  <c:pt idx="1">
                    <c:v>150</c:v>
                  </c:pt>
                  <c:pt idx="2">
                    <c:v>250</c:v>
                  </c:pt>
                  <c:pt idx="3">
                    <c:v>350</c:v>
                  </c:pt>
                  <c:pt idx="4">
                    <c:v>450</c:v>
                  </c:pt>
                  <c:pt idx="5">
                    <c:v>550</c:v>
                  </c:pt>
                  <c:pt idx="6">
                    <c:v>650</c:v>
                  </c:pt>
                  <c:pt idx="7">
                    <c:v>750</c:v>
                  </c:pt>
                  <c:pt idx="8">
                    <c:v>850</c:v>
                  </c:pt>
                  <c:pt idx="9">
                    <c:v>950</c:v>
                  </c:pt>
                </c:lvl>
              </c:multiLvlStrCache>
            </c:multiLvlStrRef>
          </c:cat>
          <c:val>
            <c:numRef>
              <c:f>Sheet1!$B$2:$B$11</c:f>
              <c:numCache>
                <c:formatCode>General</c:formatCode>
                <c:ptCount val="10"/>
                <c:pt idx="0">
                  <c:v>0.001</c:v>
                </c:pt>
                <c:pt idx="1">
                  <c:v>0.000904744159802485</c:v>
                </c:pt>
                <c:pt idx="2">
                  <c:v>0.0008083582821352</c:v>
                </c:pt>
                <c:pt idx="3">
                  <c:v>0.0007106745713352175</c:v>
                </c:pt>
                <c:pt idx="4">
                  <c:v>0.0006114700299720599</c:v>
                </c:pt>
                <c:pt idx="5">
                  <c:v>0.0005104344967050663</c:v>
                </c:pt>
                <c:pt idx="6">
                  <c:v>0.00040710833601687084</c:v>
                </c:pt>
                <c:pt idx="7">
                  <c:v>0.00030074247053777796</c:v>
                </c:pt>
                <c:pt idx="8">
                  <c:v>0.00018990259019961912</c:v>
                </c:pt>
                <c:pt idx="9">
                  <c:v>0.00007065156057695295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280"/>
                    </a:solidFill>
                    <a:latin typeface="Segoe UI"/>
                  </a:defRPr>
                </a:pPr>
                <a:r>
                  <a:rPr sz="1100" b="0" i="0" u="none" strike="noStrike">
                    <a:solidFill>
                      <a:srgbClr val="6B7280"/>
                    </a:solidFill>
                    <a:latin typeface="Segoe UI"/>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CF1"/>
              </a:solidFill>
              <a:prstDash val="solid"/>
              <a:round/>
            </a:ln>
          </c:spPr>
        </c:majorGridlines>
        <c:numFmt formatCode="0.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Segoe U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Hook in one line. By the end you will know why continuing nnU-Net training on a pretrained model at the default settings underperforms, and how a 50-epoch learning-rate ramp improves it, on a real medical-imaging foundation model. Mention it is hands-on: six notebooks, all runnable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Five sections. Background sets up why and the fix in one picture; then the three choices get a section each: data preparation, model architecture, and the training protocol. Training is the main section, the two-phase learning-rate schedule. We close with a recap and pitfalls.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Set the running example: FLARE pan-cancer lesion segmentation from a MultiTalent-style CT foundation model. This section ends with the whole talk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FLARE pan-cancer Task-1: whole CT in, lesion mask out. Lesions are small and varied, and labeled data is scarce. This is the setting where you reach for a pretrained model instead of training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Instead of learning anatomy from your small tumor set, start from a network that already learned broad anatomy and pathology across many datasets. We use a MultiTalent-style ResEnc-L checkpoint (Zenodo 13753413): pretrained for 4000 epochs, 192-cubed patches, 1 mm isotropic with Z-score normalization, with a separate segmentation head per pretraining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  MultiTalent trains one shared encoder and decoder body, with a separate segmentation output head per pretraining dataset. Why a head each? Each dataset labels different structures, so they cannot share one output layer. Forcing one body to serve all of them pushes it to learn anatomy that generalizes. When we fine-tune on a new task we drop those heads, keep the body, and attach one fresh head. That swap-the-head idea drives the architecture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Two failure modes, both easy to miss. First, preprocessing mismatch: if you let nnU-Net re-plan your data with its own spacing and normalization, the pretrained encoder sees inputs unlike anything it trained on. Second, the default learning rate of 0.01 with no warm-up moves the good pretrained weights too far, too early. Neither means fine-tuning is broken; both are fixable recipe mistakes. We fix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This is the whole talk on one slide. Match the pretraining preprocessing, load the body and re-initialize the segmentation heads, and use a learning-rate schedule that eases in before decaying. Each gets its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The first of the three choices. The load-bearing idea: preprocess your data the way the pretrained checkpoint was preprocessed, not the way nnU-Net would choose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nnU-Net expects a fixed layout. Image files carry a four-digit channel suffix (_0000 is the first modality); the label shares the case id with no suffix. dataset.json declares channel_names and labels. Our synthetic phantom follows this exactly.
DEMO: switch to NB01, cell that loads the phantom and prints dataset.json.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The most important data step. The checkpoint was trained on 1 mm isotropic, Z-score normalized volumes. If you preprocess differently, the pretrained features do not line up, which is the usual reason default fine-tuning fails. This is specific to the chosen checkpoint, not a general nnU-Net rule: nnU-Net normally derives spacing and normalization from your data; here you override to match the model. The next two slides say why each of the two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  Convolutional filters are tied to a physical scale. The pretrained encoder learned its 3D filters on volumes sampled at 1 mm per voxel. If your data has a different spacing, the same anatomical structure covers a different number of voxels, so the learned filters respond at the wrong scale. Isotropic means the spacing is equal on all three axes, which is how the pretraining sampled 3D context. The cost is real: forcing 1 mm can heavily upsample thick-slice scans, using more compute and memory, and it is a poor fit for very anisotropic data. You match the checkpoint, but you know the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Normalization matters for the same reason. The network was trained on inputs normalized to roughly zero mean and unit variance, and its weights, especially in the early layers, are calibrated to that distribution. If you feed raw Hounsfield units or a different scaling, every downstream activation is shifted and scaled away from what the pretrained weights expect, and the features degrade. Z-score normalization, subtract the mean and divide by the standard deviation, reproduces the intensity statistics the pretraining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Mechanically, take the pretrained model's plans.json, which encodes architecture, spacing, and normalization, move it onto your dataset, and preprocess with that plans. Now your data and the checkpoint match on both of the things we just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After preprocessing, confirm the generated plans say 1 mm isotropic and Z-score, not the nnU-Net defaults. A 30-second check that prevents a multi-day mis-trained run.
DEMO: NB01 cell that inspects the dataset and Z-score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  The second choice. Which parts of the pretrained network do you keep, and which do you throw away and relearn?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A short refresher: the encoder compresses to semantic features, the decoder upsamples back to a full-resolution map, and skip connections carry spatial detail across. Segmentation is per-voxel classification at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  The checkpoint is an nnU-Net ResEnc-L U-Net. What is different from the vanilla nnU-Net U-Net? Vanilla uses plain convolution blocks; ResEnc adds residual connections in the encoder, which let it go deeper and train more stably. The design is deliberately encoder-heavy, with most of the capacity in the downsampling path. And L is the large preset: the ResEnc family comes in M, L, and XL, scaling features and blocks to the available GPU memory; L is sized for large GPUs and large multi-dataset training, which is exactly the pretraining setting. We inherit all of this from the plans we moved over. The 192-cubed patch at 1 mm is why real training needs a large GPU, and why the notebooks teach the logic on a tiny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  Split the network into three parts. The encoder and decoder body are general; they carry transferable anatomy. The segmentation layers are task specific; they map features to your class set. This split decides what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[18:15]  This is the figure to dwell on. nnU-Net loads pretrained weights for everything except keys whose name contains the substring .seg_layers. Because nnU-Net uses deep supervision, there are segmentation layers at several decoder scales, not a single final 1x1x1 conv, and the substring match skips all of them, so every head is randomly re-initialized. The official guidance is to load all layers except the segmentation layers. One caveat: if your class count matches the pretraining, nnU-Net may load the heads instead; the re-initialization follows from skipping those keys, it is not automatic.
DEMO: NB02 builds a small network with deep-supervision heads and prints, per parameter, whether it transfers or re-initializes.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  The pretraining heads predict the pretraining datasets' classes, which mean nothing for your lesion label. Drop them, attach a fresh head, and let fine-tuning learn the new mapping on top of the transferred body. This is the swap-the-head idea from the MultiTalent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  The heart of the talk. We matched preprocessing and set up weight transfer. Now: how do we fine-tune so we improve the pretrained weights instead of damaging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[21:15]  We matched preprocessing and set up weight transfer. The question now is how to fine-tune so we improve the pretrained weights instead of damaging them. The answer is to control the learning rate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[22:15]  From scratch, nnU-Net uses SGD with polynomial decay starting at a learning rate of 0.01. That is a strong default for random initialization. On a pretrained model, starting at 0.01 takes large steps immediately and washes out the features you wanted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  Phase 1 ramps the learning rate linearly over 50 epochs, from about 2e-5, which is max_lr over 50 at epoch 0, not zero, up to the peak of 1e-3. Small early steps let the fresh heads and the transferred body settle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At epoch 50 we switch to polynomial decay that restarts at the 1e-3 peak and decays over the remaining 950 epochs toward zero, without reaching it. "Offset" means the decay clock starts at epoch 50, not 0. The same SGD optimizer continues, so momentum is preserved across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[26:30]  Put them together: ramp up, then decay, one peak at epoch 50. That is the entire two-phase idea, a learning-rate trajectory.
DEMO: NB03 drives the course_utils schedulers and plots this curve. It also checks epoch 0 is about 2e-5, epoch 49 is 1e-3, and epoch 50 is 1e-3.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  A custom trainer swaps the scheduler at the right epoch. At epoch 0 it builds the linear warm-up scheduler; at epoch warmup_duration_whole_net, which is 50, it builds the offset-poly scheduler, reusing the same optimizer. There are two stage labels, warmup_all and train, but both train the whole network. train just names the post-warm-up decay phase; it does not mean training starts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Read the table carefully. Pretraining with correct fine-tuning beats from-scratch, 5-fold average Dice 53.44 to 54.21; the paper reports an improvement of up to about 2 Dice points in its headline setting. Among schedules, warm-up to 1e-3, 54.21, beats plain 1e-3, 53.80, while warm-up to 1e-2 is worse, 53.28. Two lessons: the schedule matters, and the peak learning rate matters, use 1e-3 not 1e-2. And keep it honest: the warm-up gain over the already-lowered plain 1e-3 is about 0.4 Dice, small but real; the larger gains come from getting off the default 1e-2 and from matching preprocessing.
Deck note: the four headline numbers are shown here as a clean cited table. If you would rather show the paper's exact Table 2, paste a cropped screenshot over the table during the Google Slides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  A related DKFZ paper, PANTHER, pancreas tumor, MRI, tried warm-up and cosine schedules and found they did not beat the default polynomial schedule for that task; its wins came from multi-stage transfer, augmentation, and ensembling. So the warm-up trick is task dependent, not a general law. Run the small ablation yourself. (Speaker: confirm PANTHER's exact schedule-ablation wording before presenting it as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[33:30]  The schedule only matters once you train. Run the two fine-tuning jobs, export the loss curves, and show the comparison. The notebook has a cell that plots this once you drop the exported CSV into assets/precomputed/. We do not fabricate a curve; the comparison is the point and it needs the real runs.
DEMO: NB03 cell that plots the real curves if the CSV is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  A deliberate fast-forward. Once you have matched preprocessing, transferred the weights, and trained with the two-phase schedule, everything downstream is standard nnU-Net, unchanged by this recipe. Inference is sliding-window prediction with optional test-time mirroring, via nnUNetv2_predict. Post-processing is connected-component filtering, which nnU-Net selects per dataset from cross-validation, so treat it as a validated heuristic, not an automatic step; it can delete real multifocal or bilateral lesions. Evaluation is Dice per label, aggregated with nanmean over the classes that are present, written to summary.json, where the mean foreground Dice is usually your reported number. Notebooks 04 to 06 demonstrate each of these on a laptop, on CPU, using an illustrative prediction built from the ground truth, so none of it needs a GPU. If anyone wants detail, we can open those notebooks in the Q&amp;A.
DEMO: optional: open NB04 / NB05 / NB06 if the audience wants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  Pull the three choices back together and give the practical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[36:45]  If you remember one slide, this is it. These three choices must agree for fine-tuning a medical foundation model to pay off. And one clarification that often trips people: this two-phase schedule is a learning-rate trajectory inside one fine-tuning job; the whole network trains the entire time, no part is ever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  When to use this: adapting a strong pretrained medical model to a new, small-data task. What to watch: the peak learning rate, the preprocessing match, and a quick per-task ablation, since the gain is not guaranteed, as PANTHER showed. Pointers: the TBI, PANTHER, and MultiTalent papers, the nnU-Net fine-tuning docs, and this repo's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[39:30]  Point people at the GitHub repo, runnable on a laptop, and the quiz. Open the floor. Buffer to about 45 minutes, then 10 minutes of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1097280"/>
            <a:ext cx="6949440" cy="320040"/>
          </a:xfrm>
          <a:prstGeom prst="rect">
            <a:avLst/>
          </a:prstGeom>
          <a:noFill/>
          <a:ln/>
        </p:spPr>
        <p:txBody>
          <a:bodyPr wrap="square" lIns="0" tIns="0" rIns="0" bIns="0" rtlCol="0" anchor="ctr"/>
          <a:lstStyle/>
          <a:p>
            <a:pPr indent="0" marL="0">
              <a:buNone/>
            </a:pPr>
            <a:r>
              <a:rPr lang="en-US" sz="1200" b="1" spc="250" kern="0" dirty="0">
                <a:solidFill>
                  <a:srgbClr val="E07B39"/>
                </a:solidFill>
                <a:latin typeface="Segoe UI" pitchFamily="34" charset="0"/>
                <a:ea typeface="Segoe UI" pitchFamily="34" charset="-122"/>
                <a:cs typeface="Segoe UI" pitchFamily="34" charset="-120"/>
              </a:rPr>
              <a:t>INTERNAL MINI-COURSE  ·  DEEP LEARNING FOR MEDICAL IMAGING</a:t>
            </a:r>
            <a:endParaRPr lang="en-US" sz="1200" dirty="0"/>
          </a:p>
        </p:txBody>
      </p:sp>
      <p:sp>
        <p:nvSpPr>
          <p:cNvPr id="3" name="Text 1"/>
          <p:cNvSpPr/>
          <p:nvPr/>
        </p:nvSpPr>
        <p:spPr>
          <a:xfrm>
            <a:off x="640080" y="1600200"/>
            <a:ext cx="7040880" cy="1737360"/>
          </a:xfrm>
          <a:prstGeom prst="rect">
            <a:avLst/>
          </a:prstGeom>
          <a:noFill/>
          <a:ln/>
        </p:spPr>
        <p:txBody>
          <a:bodyPr wrap="square" lIns="0" tIns="0" rIns="0" bIns="0" rtlCol="0" anchor="t"/>
          <a:lstStyle/>
          <a:p>
            <a:pPr indent="0" marL="0">
              <a:lnSpc>
                <a:spcPct val="102000"/>
              </a:lnSpc>
              <a:buNone/>
            </a:pPr>
            <a:r>
              <a:rPr lang="en-US" sz="4000" b="1" dirty="0">
                <a:solidFill>
                  <a:srgbClr val="FFFFFF"/>
                </a:solidFill>
                <a:latin typeface="Segoe UI" pitchFamily="34" charset="0"/>
                <a:ea typeface="Segoe UI" pitchFamily="34" charset="-122"/>
                <a:cs typeface="Segoe UI" pitchFamily="34" charset="-120"/>
              </a:rPr>
              <a:t>Fine-tuning nnU-Net with Pre-trained Models</a:t>
            </a:r>
            <a:endParaRPr lang="en-US" sz="4000" dirty="0"/>
          </a:p>
        </p:txBody>
      </p:sp>
      <p:sp>
        <p:nvSpPr>
          <p:cNvPr id="4" name="Text 2"/>
          <p:cNvSpPr/>
          <p:nvPr/>
        </p:nvSpPr>
        <p:spPr>
          <a:xfrm>
            <a:off x="640080" y="3611880"/>
            <a:ext cx="6949440" cy="548640"/>
          </a:xfrm>
          <a:prstGeom prst="rect">
            <a:avLst/>
          </a:prstGeom>
          <a:noFill/>
          <a:ln/>
        </p:spPr>
        <p:txBody>
          <a:bodyPr wrap="square" lIns="0" tIns="0" rIns="0" bIns="0" rtlCol="0" anchor="ctr"/>
          <a:lstStyle/>
          <a:p>
            <a:pPr indent="0" marL="0">
              <a:buNone/>
            </a:pPr>
            <a:r>
              <a:rPr lang="en-US" sz="2200" dirty="0">
                <a:solidFill>
                  <a:srgbClr val="CADCFC"/>
                </a:solidFill>
                <a:latin typeface="Segoe UI" pitchFamily="34" charset="0"/>
                <a:ea typeface="Segoe UI" pitchFamily="34" charset="-122"/>
                <a:cs typeface="Segoe UI" pitchFamily="34" charset="-120"/>
              </a:rPr>
              <a:t>A two-phase learning-rate schedule</a:t>
            </a:r>
            <a:endParaRPr lang="en-US" sz="2200" dirty="0"/>
          </a:p>
        </p:txBody>
      </p:sp>
      <p:sp>
        <p:nvSpPr>
          <p:cNvPr id="5" name="Text 3"/>
          <p:cNvSpPr/>
          <p:nvPr/>
        </p:nvSpPr>
        <p:spPr>
          <a:xfrm>
            <a:off x="640080" y="4526280"/>
            <a:ext cx="6949440" cy="365760"/>
          </a:xfrm>
          <a:prstGeom prst="rect">
            <a:avLst/>
          </a:prstGeom>
          <a:noFill/>
          <a:ln/>
        </p:spPr>
        <p:txBody>
          <a:bodyPr wrap="square" lIns="0" tIns="0" rIns="0" bIns="0" rtlCol="0" anchor="ctr"/>
          <a:lstStyle/>
          <a:p>
            <a:pPr indent="0" marL="0">
              <a:buNone/>
            </a:pPr>
            <a:r>
              <a:rPr lang="en-US" sz="1500" dirty="0">
                <a:solidFill>
                  <a:srgbClr val="9AA6B2"/>
                </a:solidFill>
                <a:latin typeface="Segoe UI" pitchFamily="34" charset="0"/>
                <a:ea typeface="Segoe UI" pitchFamily="34" charset="-122"/>
                <a:cs typeface="Segoe UI" pitchFamily="34" charset="-120"/>
              </a:rPr>
              <a:t>Keishi Suzuki      ·      University of Toronto      ·      June 2026</a:t>
            </a:r>
            <a:endParaRPr lang="en-US" sz="1500" dirty="0"/>
          </a:p>
        </p:txBody>
      </p:sp>
      <p:sp>
        <p:nvSpPr>
          <p:cNvPr id="6" name="Text 4"/>
          <p:cNvSpPr/>
          <p:nvPr/>
        </p:nvSpPr>
        <p:spPr>
          <a:xfrm>
            <a:off x="640080" y="4983480"/>
            <a:ext cx="6949440" cy="365760"/>
          </a:xfrm>
          <a:prstGeom prst="rect">
            <a:avLst/>
          </a:prstGeom>
          <a:noFill/>
          <a:ln/>
        </p:spPr>
        <p:txBody>
          <a:bodyPr wrap="square" lIns="0" tIns="0" rIns="0" bIns="0" rtlCol="0" anchor="ctr"/>
          <a:lstStyle/>
          <a:p>
            <a:pPr indent="0" marL="0">
              <a:buNone/>
            </a:pPr>
            <a:r>
              <a:rPr lang="en-US" sz="1250" dirty="0">
                <a:solidFill>
                  <a:srgbClr val="9AA6B2"/>
                </a:solidFill>
                <a:latin typeface="Segoe UI" pitchFamily="34" charset="0"/>
                <a:ea typeface="Segoe UI" pitchFamily="34" charset="-122"/>
                <a:cs typeface="Segoe UI" pitchFamily="34" charset="-120"/>
              </a:rPr>
              <a:t>Six laptop-runnable notebooks  ·  public GitHub repo</a:t>
            </a:r>
            <a:endParaRPr lang="en-US" sz="1250" dirty="0"/>
          </a:p>
        </p:txBody>
      </p:sp>
      <p:sp>
        <p:nvSpPr>
          <p:cNvPr id="7" name="Shape 5"/>
          <p:cNvSpPr/>
          <p:nvPr/>
        </p:nvSpPr>
        <p:spPr>
          <a:xfrm>
            <a:off x="8229600" y="1554480"/>
            <a:ext cx="3200400" cy="3200400"/>
          </a:xfrm>
          <a:prstGeom prst="roundRect">
            <a:avLst>
              <a:gd name="adj" fmla="val 1429"/>
            </a:avLst>
          </a:prstGeom>
          <a:solidFill>
            <a:srgbClr val="000000"/>
          </a:solidFill>
          <a:ln w="12700">
            <a:solidFill>
              <a:srgbClr val="5D7290"/>
            </a:solidFill>
            <a:prstDash val="solid"/>
          </a:ln>
          <a:effectLst>
            <a:outerShdw sx="100000" sy="100000" kx="0" ky="0" algn="bl" rotWithShape="0" blurRad="88900" dist="38100" dir="5400000">
              <a:srgbClr val="8A97A6">
                <a:alpha val="22000"/>
              </a:srgbClr>
            </a:outerShdw>
          </a:effectLst>
        </p:spPr>
      </p:sp>
      <p:pic>
        <p:nvPicPr>
          <p:cNvPr id="8" name="Image 0" descr="C:\Users\Keishi Suzuki\Projects\internal-mini-course\assets\figures\ct_overlay.png">    </p:cNvPr>
          <p:cNvPicPr>
            <a:picLocks noChangeAspect="1"/>
          </p:cNvPicPr>
          <p:nvPr/>
        </p:nvPicPr>
        <p:blipFill>
          <a:blip r:embed="rId1"/>
          <a:stretch>
            <a:fillRect/>
          </a:stretch>
        </p:blipFill>
        <p:spPr>
          <a:xfrm>
            <a:off x="8339328" y="1664208"/>
            <a:ext cx="2980944" cy="2980944"/>
          </a:xfrm>
          <a:prstGeom prst="rect">
            <a:avLst/>
          </a:prstGeom>
        </p:spPr>
      </p:pic>
      <p:sp>
        <p:nvSpPr>
          <p:cNvPr id="9" name="Text 6"/>
          <p:cNvSpPr/>
          <p:nvPr/>
        </p:nvSpPr>
        <p:spPr>
          <a:xfrm>
            <a:off x="8229600" y="4818888"/>
            <a:ext cx="32004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synthetic CT phantom  ·  lesion label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OVERVIEW</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What we'll cover</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a:t>
            </a:r>
            <a:endParaRPr lang="en-US" sz="900" dirty="0"/>
          </a:p>
        </p:txBody>
      </p:sp>
      <p:sp>
        <p:nvSpPr>
          <p:cNvPr id="6" name="Shape 4"/>
          <p:cNvSpPr/>
          <p:nvPr/>
        </p:nvSpPr>
        <p:spPr>
          <a:xfrm>
            <a:off x="640080" y="2011680"/>
            <a:ext cx="530352" cy="530352"/>
          </a:xfrm>
          <a:prstGeom prst="ellipse">
            <a:avLst/>
          </a:prstGeom>
          <a:solidFill>
            <a:srgbClr val="1F2933"/>
          </a:solidFill>
          <a:ln/>
        </p:spPr>
      </p:sp>
      <p:sp>
        <p:nvSpPr>
          <p:cNvPr id="7" name="Text 5"/>
          <p:cNvSpPr/>
          <p:nvPr/>
        </p:nvSpPr>
        <p:spPr>
          <a:xfrm>
            <a:off x="640080" y="201168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8" name="Text 6"/>
          <p:cNvSpPr/>
          <p:nvPr/>
        </p:nvSpPr>
        <p:spPr>
          <a:xfrm>
            <a:off x="1463040" y="1993392"/>
            <a:ext cx="7772400" cy="384048"/>
          </a:xfrm>
          <a:prstGeom prst="rect">
            <a:avLst/>
          </a:prstGeom>
          <a:noFill/>
          <a:ln/>
        </p:spPr>
        <p:txBody>
          <a:bodyPr wrap="square" lIns="0" tIns="0" rIns="0" bIns="0" rtlCol="0" anchor="ctr"/>
          <a:lstStyle/>
          <a:p>
            <a:pPr indent="0" marL="0">
              <a:buNone/>
            </a:pPr>
            <a:r>
              <a:rPr lang="en-US" sz="2000" b="1" dirty="0">
                <a:solidFill>
                  <a:srgbClr val="1F2933"/>
                </a:solidFill>
                <a:latin typeface="Segoe UI" pitchFamily="34" charset="0"/>
                <a:ea typeface="Segoe UI" pitchFamily="34" charset="-122"/>
                <a:cs typeface="Segoe UI" pitchFamily="34" charset="-120"/>
              </a:rPr>
              <a:t>Background</a:t>
            </a:r>
            <a:endParaRPr lang="en-US" sz="2000" dirty="0"/>
          </a:p>
        </p:txBody>
      </p:sp>
      <p:sp>
        <p:nvSpPr>
          <p:cNvPr id="9" name="Text 7"/>
          <p:cNvSpPr/>
          <p:nvPr/>
        </p:nvSpPr>
        <p:spPr>
          <a:xfrm>
            <a:off x="1463040" y="2395728"/>
            <a:ext cx="9144000" cy="320040"/>
          </a:xfrm>
          <a:prstGeom prst="rect">
            <a:avLst/>
          </a:prstGeom>
          <a:noFill/>
          <a:ln/>
        </p:spPr>
        <p:txBody>
          <a:bodyPr wrap="square" lIns="0" tIns="0" rIns="0" bIns="0" rtlCol="0" anchor="ctr"/>
          <a:lstStyle/>
          <a:p>
            <a:pPr indent="0" marL="0">
              <a:buNone/>
            </a:pPr>
            <a:r>
              <a:rPr lang="en-US" sz="1350" dirty="0">
                <a:solidFill>
                  <a:srgbClr val="6B7280"/>
                </a:solidFill>
                <a:latin typeface="Segoe UI" pitchFamily="34" charset="0"/>
                <a:ea typeface="Segoe UI" pitchFamily="34" charset="-122"/>
                <a:cs typeface="Segoe UI" pitchFamily="34" charset="-120"/>
              </a:rPr>
              <a:t>why fine-tune, and the fix in one picture</a:t>
            </a:r>
            <a:endParaRPr lang="en-US" sz="1350" dirty="0"/>
          </a:p>
        </p:txBody>
      </p:sp>
      <p:sp>
        <p:nvSpPr>
          <p:cNvPr id="10" name="Shape 8"/>
          <p:cNvSpPr/>
          <p:nvPr/>
        </p:nvSpPr>
        <p:spPr>
          <a:xfrm>
            <a:off x="640080" y="2880360"/>
            <a:ext cx="530352" cy="530352"/>
          </a:xfrm>
          <a:prstGeom prst="ellipse">
            <a:avLst/>
          </a:prstGeom>
          <a:solidFill>
            <a:srgbClr val="1F2933"/>
          </a:solidFill>
          <a:ln/>
        </p:spPr>
      </p:sp>
      <p:sp>
        <p:nvSpPr>
          <p:cNvPr id="11" name="Text 9"/>
          <p:cNvSpPr/>
          <p:nvPr/>
        </p:nvSpPr>
        <p:spPr>
          <a:xfrm>
            <a:off x="640080" y="288036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2" name="Text 10"/>
          <p:cNvSpPr/>
          <p:nvPr/>
        </p:nvSpPr>
        <p:spPr>
          <a:xfrm>
            <a:off x="1463040" y="2862072"/>
            <a:ext cx="7772400" cy="384048"/>
          </a:xfrm>
          <a:prstGeom prst="rect">
            <a:avLst/>
          </a:prstGeom>
          <a:noFill/>
          <a:ln/>
        </p:spPr>
        <p:txBody>
          <a:bodyPr wrap="square" lIns="0" tIns="0" rIns="0" bIns="0" rtlCol="0" anchor="ctr"/>
          <a:lstStyle/>
          <a:p>
            <a:pPr indent="0" marL="0">
              <a:buNone/>
            </a:pPr>
            <a:r>
              <a:rPr lang="en-US" sz="2000" b="1" dirty="0">
                <a:solidFill>
                  <a:srgbClr val="1F2933"/>
                </a:solidFill>
                <a:latin typeface="Segoe UI" pitchFamily="34" charset="0"/>
                <a:ea typeface="Segoe UI" pitchFamily="34" charset="-122"/>
                <a:cs typeface="Segoe UI" pitchFamily="34" charset="-120"/>
              </a:rPr>
              <a:t>Data preparation</a:t>
            </a:r>
            <a:endParaRPr lang="en-US" sz="2000" dirty="0"/>
          </a:p>
        </p:txBody>
      </p:sp>
      <p:sp>
        <p:nvSpPr>
          <p:cNvPr id="13" name="Text 11"/>
          <p:cNvSpPr/>
          <p:nvPr/>
        </p:nvSpPr>
        <p:spPr>
          <a:xfrm>
            <a:off x="1463040" y="3264408"/>
            <a:ext cx="9144000" cy="320040"/>
          </a:xfrm>
          <a:prstGeom prst="rect">
            <a:avLst/>
          </a:prstGeom>
          <a:noFill/>
          <a:ln/>
        </p:spPr>
        <p:txBody>
          <a:bodyPr wrap="square" lIns="0" tIns="0" rIns="0" bIns="0" rtlCol="0" anchor="ctr"/>
          <a:lstStyle/>
          <a:p>
            <a:pPr indent="0" marL="0">
              <a:buNone/>
            </a:pPr>
            <a:r>
              <a:rPr lang="en-US" sz="1350" dirty="0">
                <a:solidFill>
                  <a:srgbClr val="6B7280"/>
                </a:solidFill>
                <a:latin typeface="Segoe UI" pitchFamily="34" charset="0"/>
                <a:ea typeface="Segoe UI" pitchFamily="34" charset="-122"/>
                <a:cs typeface="Segoe UI" pitchFamily="34" charset="-120"/>
              </a:rPr>
              <a:t>match the checkpoint's preprocessing</a:t>
            </a:r>
            <a:endParaRPr lang="en-US" sz="1350" dirty="0"/>
          </a:p>
        </p:txBody>
      </p:sp>
      <p:sp>
        <p:nvSpPr>
          <p:cNvPr id="14" name="Shape 12"/>
          <p:cNvSpPr/>
          <p:nvPr/>
        </p:nvSpPr>
        <p:spPr>
          <a:xfrm>
            <a:off x="640080" y="3749040"/>
            <a:ext cx="530352" cy="530352"/>
          </a:xfrm>
          <a:prstGeom prst="ellipse">
            <a:avLst/>
          </a:prstGeom>
          <a:solidFill>
            <a:srgbClr val="1F2933"/>
          </a:solidFill>
          <a:ln/>
        </p:spPr>
      </p:sp>
      <p:sp>
        <p:nvSpPr>
          <p:cNvPr id="15" name="Text 13"/>
          <p:cNvSpPr/>
          <p:nvPr/>
        </p:nvSpPr>
        <p:spPr>
          <a:xfrm>
            <a:off x="640080" y="374904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6" name="Text 14"/>
          <p:cNvSpPr/>
          <p:nvPr/>
        </p:nvSpPr>
        <p:spPr>
          <a:xfrm>
            <a:off x="1463040" y="3730752"/>
            <a:ext cx="7772400" cy="384048"/>
          </a:xfrm>
          <a:prstGeom prst="rect">
            <a:avLst/>
          </a:prstGeom>
          <a:noFill/>
          <a:ln/>
        </p:spPr>
        <p:txBody>
          <a:bodyPr wrap="square" lIns="0" tIns="0" rIns="0" bIns="0" rtlCol="0" anchor="ctr"/>
          <a:lstStyle/>
          <a:p>
            <a:pPr indent="0" marL="0">
              <a:buNone/>
            </a:pPr>
            <a:r>
              <a:rPr lang="en-US" sz="2000" b="1" dirty="0">
                <a:solidFill>
                  <a:srgbClr val="1F2933"/>
                </a:solidFill>
                <a:latin typeface="Segoe UI" pitchFamily="34" charset="0"/>
                <a:ea typeface="Segoe UI" pitchFamily="34" charset="-122"/>
                <a:cs typeface="Segoe UI" pitchFamily="34" charset="-120"/>
              </a:rPr>
              <a:t>Model architecture</a:t>
            </a:r>
            <a:endParaRPr lang="en-US" sz="2000" dirty="0"/>
          </a:p>
        </p:txBody>
      </p:sp>
      <p:sp>
        <p:nvSpPr>
          <p:cNvPr id="17" name="Text 15"/>
          <p:cNvSpPr/>
          <p:nvPr/>
        </p:nvSpPr>
        <p:spPr>
          <a:xfrm>
            <a:off x="1463040" y="4133088"/>
            <a:ext cx="9144000" cy="320040"/>
          </a:xfrm>
          <a:prstGeom prst="rect">
            <a:avLst/>
          </a:prstGeom>
          <a:noFill/>
          <a:ln/>
        </p:spPr>
        <p:txBody>
          <a:bodyPr wrap="square" lIns="0" tIns="0" rIns="0" bIns="0" rtlCol="0" anchor="ctr"/>
          <a:lstStyle/>
          <a:p>
            <a:pPr indent="0" marL="0">
              <a:buNone/>
            </a:pPr>
            <a:r>
              <a:rPr lang="en-US" sz="1350" dirty="0">
                <a:solidFill>
                  <a:srgbClr val="6B7280"/>
                </a:solidFill>
                <a:latin typeface="Segoe UI" pitchFamily="34" charset="0"/>
                <a:ea typeface="Segoe UI" pitchFamily="34" charset="-122"/>
                <a:cs typeface="Segoe UI" pitchFamily="34" charset="-120"/>
              </a:rPr>
              <a:t>transfer the body, re-initialize the heads</a:t>
            </a:r>
            <a:endParaRPr lang="en-US" sz="1350" dirty="0"/>
          </a:p>
        </p:txBody>
      </p:sp>
      <p:sp>
        <p:nvSpPr>
          <p:cNvPr id="18" name="Shape 16"/>
          <p:cNvSpPr/>
          <p:nvPr/>
        </p:nvSpPr>
        <p:spPr>
          <a:xfrm>
            <a:off x="640080" y="4617720"/>
            <a:ext cx="530352" cy="530352"/>
          </a:xfrm>
          <a:prstGeom prst="ellipse">
            <a:avLst/>
          </a:prstGeom>
          <a:solidFill>
            <a:srgbClr val="E07B39"/>
          </a:solidFill>
          <a:ln/>
        </p:spPr>
      </p:sp>
      <p:sp>
        <p:nvSpPr>
          <p:cNvPr id="19" name="Text 17"/>
          <p:cNvSpPr/>
          <p:nvPr/>
        </p:nvSpPr>
        <p:spPr>
          <a:xfrm>
            <a:off x="640080" y="461772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20" name="Text 18"/>
          <p:cNvSpPr/>
          <p:nvPr/>
        </p:nvSpPr>
        <p:spPr>
          <a:xfrm>
            <a:off x="1463040" y="4599432"/>
            <a:ext cx="7772400" cy="384048"/>
          </a:xfrm>
          <a:prstGeom prst="rect">
            <a:avLst/>
          </a:prstGeom>
          <a:noFill/>
          <a:ln/>
        </p:spPr>
        <p:txBody>
          <a:bodyPr wrap="square" lIns="0" tIns="0" rIns="0" bIns="0" rtlCol="0" anchor="ctr"/>
          <a:lstStyle/>
          <a:p>
            <a:pPr indent="0" marL="0">
              <a:buNone/>
            </a:pPr>
            <a:r>
              <a:rPr lang="en-US" sz="2000" b="1" dirty="0">
                <a:solidFill>
                  <a:srgbClr val="E07B39"/>
                </a:solidFill>
                <a:latin typeface="Segoe UI" pitchFamily="34" charset="0"/>
                <a:ea typeface="Segoe UI" pitchFamily="34" charset="-122"/>
                <a:cs typeface="Segoe UI" pitchFamily="34" charset="-120"/>
              </a:rPr>
              <a:t>Training protocol</a:t>
            </a:r>
            <a:endParaRPr lang="en-US" sz="2000" dirty="0"/>
          </a:p>
        </p:txBody>
      </p:sp>
      <p:sp>
        <p:nvSpPr>
          <p:cNvPr id="21" name="Text 19"/>
          <p:cNvSpPr/>
          <p:nvPr/>
        </p:nvSpPr>
        <p:spPr>
          <a:xfrm>
            <a:off x="1463040" y="5001768"/>
            <a:ext cx="9144000" cy="320040"/>
          </a:xfrm>
          <a:prstGeom prst="rect">
            <a:avLst/>
          </a:prstGeom>
          <a:noFill/>
          <a:ln/>
        </p:spPr>
        <p:txBody>
          <a:bodyPr wrap="square" lIns="0" tIns="0" rIns="0" bIns="0" rtlCol="0" anchor="ctr"/>
          <a:lstStyle/>
          <a:p>
            <a:pPr indent="0" marL="0">
              <a:buNone/>
            </a:pPr>
            <a:r>
              <a:rPr lang="en-US" sz="1350" dirty="0">
                <a:solidFill>
                  <a:srgbClr val="6B7280"/>
                </a:solidFill>
                <a:latin typeface="Segoe UI" pitchFamily="34" charset="0"/>
                <a:ea typeface="Segoe UI" pitchFamily="34" charset="-122"/>
                <a:cs typeface="Segoe UI" pitchFamily="34" charset="-120"/>
              </a:rPr>
              <a:t>the two-phase learning-rate schedule   (the main section)</a:t>
            </a:r>
            <a:endParaRPr lang="en-US" sz="1350" dirty="0"/>
          </a:p>
        </p:txBody>
      </p:sp>
      <p:sp>
        <p:nvSpPr>
          <p:cNvPr id="22" name="Shape 20"/>
          <p:cNvSpPr/>
          <p:nvPr/>
        </p:nvSpPr>
        <p:spPr>
          <a:xfrm>
            <a:off x="640080" y="5486400"/>
            <a:ext cx="530352" cy="530352"/>
          </a:xfrm>
          <a:prstGeom prst="ellipse">
            <a:avLst/>
          </a:prstGeom>
          <a:solidFill>
            <a:srgbClr val="1F2933"/>
          </a:solidFill>
          <a:ln/>
        </p:spPr>
      </p:sp>
      <p:sp>
        <p:nvSpPr>
          <p:cNvPr id="23" name="Text 21"/>
          <p:cNvSpPr/>
          <p:nvPr/>
        </p:nvSpPr>
        <p:spPr>
          <a:xfrm>
            <a:off x="640080" y="548640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5</a:t>
            </a:r>
            <a:endParaRPr lang="en-US" sz="1800" dirty="0"/>
          </a:p>
        </p:txBody>
      </p:sp>
      <p:sp>
        <p:nvSpPr>
          <p:cNvPr id="24" name="Text 22"/>
          <p:cNvSpPr/>
          <p:nvPr/>
        </p:nvSpPr>
        <p:spPr>
          <a:xfrm>
            <a:off x="1463040" y="5468112"/>
            <a:ext cx="7772400" cy="384048"/>
          </a:xfrm>
          <a:prstGeom prst="rect">
            <a:avLst/>
          </a:prstGeom>
          <a:noFill/>
          <a:ln/>
        </p:spPr>
        <p:txBody>
          <a:bodyPr wrap="square" lIns="0" tIns="0" rIns="0" bIns="0" rtlCol="0" anchor="ctr"/>
          <a:lstStyle/>
          <a:p>
            <a:pPr indent="0" marL="0">
              <a:buNone/>
            </a:pPr>
            <a:r>
              <a:rPr lang="en-US" sz="2000" b="1" dirty="0">
                <a:solidFill>
                  <a:srgbClr val="1F2933"/>
                </a:solidFill>
                <a:latin typeface="Segoe UI" pitchFamily="34" charset="0"/>
                <a:ea typeface="Segoe UI" pitchFamily="34" charset="-122"/>
                <a:cs typeface="Segoe UI" pitchFamily="34" charset="-120"/>
              </a:rPr>
              <a:t>Conclusion</a:t>
            </a:r>
            <a:endParaRPr lang="en-US" sz="2000" dirty="0"/>
          </a:p>
        </p:txBody>
      </p:sp>
      <p:sp>
        <p:nvSpPr>
          <p:cNvPr id="25" name="Text 23"/>
          <p:cNvSpPr/>
          <p:nvPr/>
        </p:nvSpPr>
        <p:spPr>
          <a:xfrm>
            <a:off x="1463040" y="5870448"/>
            <a:ext cx="9144000" cy="320040"/>
          </a:xfrm>
          <a:prstGeom prst="rect">
            <a:avLst/>
          </a:prstGeom>
          <a:noFill/>
          <a:ln/>
        </p:spPr>
        <p:txBody>
          <a:bodyPr wrap="square" lIns="0" tIns="0" rIns="0" bIns="0" rtlCol="0" anchor="ctr"/>
          <a:lstStyle/>
          <a:p>
            <a:pPr indent="0" marL="0">
              <a:buNone/>
            </a:pPr>
            <a:r>
              <a:rPr lang="en-US" sz="1350" dirty="0">
                <a:solidFill>
                  <a:srgbClr val="6B7280"/>
                </a:solidFill>
                <a:latin typeface="Segoe UI" pitchFamily="34" charset="0"/>
                <a:ea typeface="Segoe UI" pitchFamily="34" charset="-122"/>
                <a:cs typeface="Segoe UI" pitchFamily="34" charset="-120"/>
              </a:rPr>
              <a:t>recap, pitfalls, when to use it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2331720"/>
            <a:ext cx="10607040" cy="365760"/>
          </a:xfrm>
          <a:prstGeom prst="rect">
            <a:avLst/>
          </a:prstGeom>
          <a:noFill/>
          <a:ln/>
        </p:spPr>
        <p:txBody>
          <a:bodyPr wrap="square" lIns="0" tIns="0" rIns="0" bIns="0" rtlCol="0" anchor="ctr"/>
          <a:lstStyle/>
          <a:p>
            <a:pPr indent="0" marL="0">
              <a:buNone/>
            </a:pPr>
            <a:r>
              <a:rPr lang="en-US" sz="1300" b="1" spc="400" kern="0" dirty="0">
                <a:solidFill>
                  <a:srgbClr val="E07B39"/>
                </a:solidFill>
                <a:latin typeface="Segoe UI" pitchFamily="34" charset="0"/>
                <a:ea typeface="Segoe UI" pitchFamily="34" charset="-122"/>
                <a:cs typeface="Segoe UI" pitchFamily="34" charset="-120"/>
              </a:rPr>
              <a:t>Section 1</a:t>
            </a:r>
            <a:endParaRPr lang="en-US" sz="1300" dirty="0"/>
          </a:p>
        </p:txBody>
      </p:sp>
      <p:sp>
        <p:nvSpPr>
          <p:cNvPr id="3" name="Text 1"/>
          <p:cNvSpPr/>
          <p:nvPr/>
        </p:nvSpPr>
        <p:spPr>
          <a:xfrm>
            <a:off x="640080" y="2788920"/>
            <a:ext cx="10607040" cy="9601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Background</a:t>
            </a:r>
            <a:endParaRPr lang="en-US" sz="4000" dirty="0"/>
          </a:p>
        </p:txBody>
      </p:sp>
      <p:sp>
        <p:nvSpPr>
          <p:cNvPr id="4" name="Text 2"/>
          <p:cNvSpPr/>
          <p:nvPr/>
        </p:nvSpPr>
        <p:spPr>
          <a:xfrm>
            <a:off x="640080" y="3931920"/>
            <a:ext cx="10607040" cy="457200"/>
          </a:xfrm>
          <a:prstGeom prst="rect">
            <a:avLst/>
          </a:prstGeom>
          <a:noFill/>
          <a:ln/>
        </p:spPr>
        <p:txBody>
          <a:bodyPr wrap="square" lIns="0" tIns="0" rIns="0" bIns="0" rtlCol="0" anchor="ctr"/>
          <a:lstStyle/>
          <a:p>
            <a:pPr indent="0" marL="0">
              <a:buNone/>
            </a:pPr>
            <a:r>
              <a:rPr lang="en-US" sz="1700" dirty="0">
                <a:solidFill>
                  <a:srgbClr val="9AA6B2"/>
                </a:solidFill>
                <a:latin typeface="Segoe UI" pitchFamily="34" charset="0"/>
                <a:ea typeface="Segoe UI" pitchFamily="34" charset="-122"/>
                <a:cs typeface="Segoe UI" pitchFamily="34" charset="-120"/>
              </a:rPr>
              <a:t>Why fine-tune a foundation model, and the fix in one picture</a:t>
            </a:r>
            <a:endParaRPr lang="en-US" sz="17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9AA6B2"/>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BACKGROUND</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clinical task</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4</a:t>
            </a:r>
            <a:endParaRPr lang="en-US" sz="900" dirty="0"/>
          </a:p>
        </p:txBody>
      </p:sp>
      <p:sp>
        <p:nvSpPr>
          <p:cNvPr id="6" name="Text 4"/>
          <p:cNvSpPr/>
          <p:nvPr/>
        </p:nvSpPr>
        <p:spPr>
          <a:xfrm>
            <a:off x="640080" y="2011680"/>
            <a:ext cx="548640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Segment tumors in whole-body CT</a:t>
            </a:r>
            <a:endParaRPr lang="en-US" sz="2000" dirty="0"/>
          </a:p>
        </p:txBody>
      </p:sp>
      <p:sp>
        <p:nvSpPr>
          <p:cNvPr id="7" name="Text 5"/>
          <p:cNvSpPr/>
          <p:nvPr/>
        </p:nvSpPr>
        <p:spPr>
          <a:xfrm>
            <a:off x="640080" y="2926080"/>
            <a:ext cx="5486400" cy="27432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Lesions are small and variable in shape</a:t>
            </a:r>
            <a:endParaRPr lang="en-US" sz="1500" dirty="0"/>
          </a:p>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Labeled data is scarce</a:t>
            </a:r>
            <a:endParaRPr lang="en-US" sz="1500" dirty="0"/>
          </a:p>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So you reach for a pretrained model, not training from scratch</a:t>
            </a:r>
            <a:endParaRPr lang="en-US" sz="1500" dirty="0"/>
          </a:p>
        </p:txBody>
      </p:sp>
      <p:sp>
        <p:nvSpPr>
          <p:cNvPr id="8" name="Shape 6"/>
          <p:cNvSpPr/>
          <p:nvPr/>
        </p:nvSpPr>
        <p:spPr>
          <a:xfrm>
            <a:off x="7955280" y="1920240"/>
            <a:ext cx="3383280" cy="3383280"/>
          </a:xfrm>
          <a:prstGeom prst="roundRect">
            <a:avLst>
              <a:gd name="adj" fmla="val 1351"/>
            </a:avLst>
          </a:prstGeom>
          <a:solidFill>
            <a:srgbClr val="000000"/>
          </a:solidFill>
          <a:ln w="12700">
            <a:solidFill>
              <a:srgbClr val="5D7290"/>
            </a:solidFill>
            <a:prstDash val="solid"/>
          </a:ln>
          <a:effectLst>
            <a:outerShdw sx="100000" sy="100000" kx="0" ky="0" algn="bl" rotWithShape="0" blurRad="88900" dist="38100" dir="5400000">
              <a:srgbClr val="8A97A6">
                <a:alpha val="22000"/>
              </a:srgbClr>
            </a:outerShdw>
          </a:effectLst>
        </p:spPr>
      </p:sp>
      <p:pic>
        <p:nvPicPr>
          <p:cNvPr id="9" name="Image 0" descr="C:\Users\Keishi Suzuki\Projects\internal-mini-course\assets\figures\ct_overlay.png">    </p:cNvPr>
          <p:cNvPicPr>
            <a:picLocks noChangeAspect="1"/>
          </p:cNvPicPr>
          <p:nvPr/>
        </p:nvPicPr>
        <p:blipFill>
          <a:blip r:embed="rId1"/>
          <a:stretch>
            <a:fillRect/>
          </a:stretch>
        </p:blipFill>
        <p:spPr>
          <a:xfrm>
            <a:off x="8065008" y="2029968"/>
            <a:ext cx="3163824" cy="3163824"/>
          </a:xfrm>
          <a:prstGeom prst="rect">
            <a:avLst/>
          </a:prstGeom>
        </p:spPr>
      </p:pic>
      <p:sp>
        <p:nvSpPr>
          <p:cNvPr id="10" name="Text 7"/>
          <p:cNvSpPr/>
          <p:nvPr/>
        </p:nvSpPr>
        <p:spPr>
          <a:xfrm>
            <a:off x="7955280" y="5367528"/>
            <a:ext cx="338328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FLARE pan-cancer Task-1  ·  lesion mask 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BACKGROUND</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Why a foundation model</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5</a:t>
            </a:r>
            <a:endParaRPr lang="en-US" sz="900" dirty="0"/>
          </a:p>
        </p:txBody>
      </p:sp>
      <p:sp>
        <p:nvSpPr>
          <p:cNvPr id="6" name="Text 4"/>
          <p:cNvSpPr/>
          <p:nvPr/>
        </p:nvSpPr>
        <p:spPr>
          <a:xfrm>
            <a:off x="640080" y="1828800"/>
            <a:ext cx="1088136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Reuse anatomy learned from many datasets</a:t>
            </a:r>
            <a:endParaRPr lang="en-US" sz="2000" dirty="0"/>
          </a:p>
        </p:txBody>
      </p:sp>
      <p:sp>
        <p:nvSpPr>
          <p:cNvPr id="7" name="Shape 5"/>
          <p:cNvSpPr/>
          <p:nvPr/>
        </p:nvSpPr>
        <p:spPr>
          <a:xfrm>
            <a:off x="640080" y="2697480"/>
            <a:ext cx="2468880" cy="640080"/>
          </a:xfrm>
          <a:prstGeom prst="roundRect">
            <a:avLst>
              <a:gd name="adj" fmla="val 11429"/>
            </a:avLst>
          </a:prstGeom>
          <a:solidFill>
            <a:srgbClr val="F4F6F8"/>
          </a:solidFill>
          <a:ln w="12700">
            <a:solidFill>
              <a:srgbClr val="DDE3EA"/>
            </a:solidFill>
            <a:prstDash val="solid"/>
          </a:ln>
        </p:spPr>
      </p:sp>
      <p:sp>
        <p:nvSpPr>
          <p:cNvPr id="8" name="Text 6"/>
          <p:cNvSpPr/>
          <p:nvPr/>
        </p:nvSpPr>
        <p:spPr>
          <a:xfrm>
            <a:off x="640080" y="2697480"/>
            <a:ext cx="2468880" cy="640080"/>
          </a:xfrm>
          <a:prstGeom prst="rect">
            <a:avLst/>
          </a:prstGeom>
          <a:noFill/>
          <a:ln/>
        </p:spPr>
        <p:txBody>
          <a:bodyPr wrap="square" lIns="76200" tIns="76200" rIns="76200" bIns="76200" rtlCol="0" anchor="ctr"/>
          <a:lstStyle/>
          <a:p>
            <a:pPr algn="ctr" indent="0" marL="0">
              <a:buNone/>
            </a:pPr>
            <a:r>
              <a:rPr lang="en-US" sz="1400" dirty="0">
                <a:solidFill>
                  <a:srgbClr val="1F2933"/>
                </a:solidFill>
                <a:latin typeface="Segoe UI" pitchFamily="34" charset="0"/>
                <a:ea typeface="Segoe UI" pitchFamily="34" charset="-122"/>
                <a:cs typeface="Segoe UI" pitchFamily="34" charset="-120"/>
              </a:rPr>
              <a:t>CT dataset A</a:t>
            </a:r>
            <a:endParaRPr lang="en-US" sz="1400" dirty="0"/>
          </a:p>
        </p:txBody>
      </p:sp>
      <p:sp>
        <p:nvSpPr>
          <p:cNvPr id="9" name="Shape 7"/>
          <p:cNvSpPr/>
          <p:nvPr/>
        </p:nvSpPr>
        <p:spPr>
          <a:xfrm>
            <a:off x="640080" y="3520440"/>
            <a:ext cx="2468880" cy="640080"/>
          </a:xfrm>
          <a:prstGeom prst="roundRect">
            <a:avLst>
              <a:gd name="adj" fmla="val 11429"/>
            </a:avLst>
          </a:prstGeom>
          <a:solidFill>
            <a:srgbClr val="F4F6F8"/>
          </a:solidFill>
          <a:ln w="12700">
            <a:solidFill>
              <a:srgbClr val="DDE3EA"/>
            </a:solidFill>
            <a:prstDash val="solid"/>
          </a:ln>
        </p:spPr>
      </p:sp>
      <p:sp>
        <p:nvSpPr>
          <p:cNvPr id="10" name="Text 8"/>
          <p:cNvSpPr/>
          <p:nvPr/>
        </p:nvSpPr>
        <p:spPr>
          <a:xfrm>
            <a:off x="640080" y="3520440"/>
            <a:ext cx="2468880" cy="640080"/>
          </a:xfrm>
          <a:prstGeom prst="rect">
            <a:avLst/>
          </a:prstGeom>
          <a:noFill/>
          <a:ln/>
        </p:spPr>
        <p:txBody>
          <a:bodyPr wrap="square" lIns="76200" tIns="76200" rIns="76200" bIns="76200" rtlCol="0" anchor="ctr"/>
          <a:lstStyle/>
          <a:p>
            <a:pPr algn="ctr" indent="0" marL="0">
              <a:buNone/>
            </a:pPr>
            <a:r>
              <a:rPr lang="en-US" sz="1400" dirty="0">
                <a:solidFill>
                  <a:srgbClr val="1F2933"/>
                </a:solidFill>
                <a:latin typeface="Segoe UI" pitchFamily="34" charset="0"/>
                <a:ea typeface="Segoe UI" pitchFamily="34" charset="-122"/>
                <a:cs typeface="Segoe UI" pitchFamily="34" charset="-120"/>
              </a:rPr>
              <a:t>CT dataset B</a:t>
            </a:r>
            <a:endParaRPr lang="en-US" sz="1400" dirty="0"/>
          </a:p>
        </p:txBody>
      </p:sp>
      <p:sp>
        <p:nvSpPr>
          <p:cNvPr id="11" name="Shape 9"/>
          <p:cNvSpPr/>
          <p:nvPr/>
        </p:nvSpPr>
        <p:spPr>
          <a:xfrm>
            <a:off x="640080" y="4343400"/>
            <a:ext cx="2468880" cy="640080"/>
          </a:xfrm>
          <a:prstGeom prst="roundRect">
            <a:avLst>
              <a:gd name="adj" fmla="val 11429"/>
            </a:avLst>
          </a:prstGeom>
          <a:solidFill>
            <a:srgbClr val="F4F6F8"/>
          </a:solidFill>
          <a:ln w="12700">
            <a:solidFill>
              <a:srgbClr val="DDE3EA"/>
            </a:solidFill>
            <a:prstDash val="solid"/>
          </a:ln>
        </p:spPr>
      </p:sp>
      <p:sp>
        <p:nvSpPr>
          <p:cNvPr id="12" name="Text 10"/>
          <p:cNvSpPr/>
          <p:nvPr/>
        </p:nvSpPr>
        <p:spPr>
          <a:xfrm>
            <a:off x="640080" y="4343400"/>
            <a:ext cx="2468880" cy="640080"/>
          </a:xfrm>
          <a:prstGeom prst="rect">
            <a:avLst/>
          </a:prstGeom>
          <a:noFill/>
          <a:ln/>
        </p:spPr>
        <p:txBody>
          <a:bodyPr wrap="square" lIns="76200" tIns="76200" rIns="76200" bIns="76200" rtlCol="0" anchor="ctr"/>
          <a:lstStyle/>
          <a:p>
            <a:pPr algn="ctr" indent="0" marL="0">
              <a:buNone/>
            </a:pPr>
            <a:r>
              <a:rPr lang="en-US" sz="1400" dirty="0">
                <a:solidFill>
                  <a:srgbClr val="1F2933"/>
                </a:solidFill>
                <a:latin typeface="Segoe UI" pitchFamily="34" charset="0"/>
                <a:ea typeface="Segoe UI" pitchFamily="34" charset="-122"/>
                <a:cs typeface="Segoe UI" pitchFamily="34" charset="-120"/>
              </a:rPr>
              <a:t>CT dataset C</a:t>
            </a:r>
            <a:endParaRPr lang="en-US" sz="1400" dirty="0"/>
          </a:p>
        </p:txBody>
      </p:sp>
      <p:sp>
        <p:nvSpPr>
          <p:cNvPr id="13" name="Shape 11"/>
          <p:cNvSpPr/>
          <p:nvPr/>
        </p:nvSpPr>
        <p:spPr>
          <a:xfrm>
            <a:off x="3108960" y="3017520"/>
            <a:ext cx="1554480" cy="0"/>
          </a:xfrm>
          <a:prstGeom prst="line">
            <a:avLst/>
          </a:prstGeom>
          <a:noFill/>
          <a:ln w="25400">
            <a:solidFill>
              <a:srgbClr val="9AA9BD"/>
            </a:solidFill>
            <a:prstDash val="solid"/>
            <a:tailEnd type="triangle"/>
          </a:ln>
        </p:spPr>
      </p:sp>
      <p:sp>
        <p:nvSpPr>
          <p:cNvPr id="14" name="Shape 12"/>
          <p:cNvSpPr/>
          <p:nvPr/>
        </p:nvSpPr>
        <p:spPr>
          <a:xfrm>
            <a:off x="3108960" y="3840480"/>
            <a:ext cx="1554480" cy="0"/>
          </a:xfrm>
          <a:prstGeom prst="line">
            <a:avLst/>
          </a:prstGeom>
          <a:noFill/>
          <a:ln w="25400">
            <a:solidFill>
              <a:srgbClr val="9AA9BD"/>
            </a:solidFill>
            <a:prstDash val="solid"/>
            <a:tailEnd type="triangle"/>
          </a:ln>
        </p:spPr>
      </p:sp>
      <p:sp>
        <p:nvSpPr>
          <p:cNvPr id="15" name="Shape 13"/>
          <p:cNvSpPr/>
          <p:nvPr/>
        </p:nvSpPr>
        <p:spPr>
          <a:xfrm>
            <a:off x="3108960" y="4663440"/>
            <a:ext cx="1554480" cy="0"/>
          </a:xfrm>
          <a:prstGeom prst="line">
            <a:avLst/>
          </a:prstGeom>
          <a:noFill/>
          <a:ln w="25400">
            <a:solidFill>
              <a:srgbClr val="9AA9BD"/>
            </a:solidFill>
            <a:prstDash val="solid"/>
            <a:tailEnd type="triangle"/>
          </a:ln>
        </p:spPr>
      </p:sp>
      <p:sp>
        <p:nvSpPr>
          <p:cNvPr id="16" name="Shape 14"/>
          <p:cNvSpPr/>
          <p:nvPr/>
        </p:nvSpPr>
        <p:spPr>
          <a:xfrm>
            <a:off x="5120640" y="2880360"/>
            <a:ext cx="2834640" cy="1920240"/>
          </a:xfrm>
          <a:prstGeom prst="roundRect">
            <a:avLst>
              <a:gd name="adj" fmla="val 3810"/>
            </a:avLst>
          </a:prstGeom>
          <a:solidFill>
            <a:srgbClr val="1F2933"/>
          </a:solidFill>
          <a:ln/>
        </p:spPr>
      </p:sp>
      <p:sp>
        <p:nvSpPr>
          <p:cNvPr id="17" name="Text 15"/>
          <p:cNvSpPr/>
          <p:nvPr/>
        </p:nvSpPr>
        <p:spPr>
          <a:xfrm>
            <a:off x="5120640" y="2880360"/>
            <a:ext cx="2834640" cy="192024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Pretrained</a:t>
            </a:r>
            <a:endParaRPr lang="en-US" sz="1600" dirty="0"/>
          </a:p>
          <a:p>
            <a:pPr algn="ctr" indent="0" marL="0">
              <a:buNone/>
            </a:pPr>
            <a:r>
              <a:rPr lang="en-US" sz="1600" b="1" dirty="0">
                <a:solidFill>
                  <a:srgbClr val="FFFFFF"/>
                </a:solidFill>
                <a:latin typeface="Segoe UI" pitchFamily="34" charset="0"/>
                <a:ea typeface="Segoe UI" pitchFamily="34" charset="-122"/>
                <a:cs typeface="Segoe UI" pitchFamily="34" charset="-120"/>
              </a:rPr>
              <a:t>ResEnc-L encoder</a:t>
            </a:r>
            <a:endParaRPr lang="en-US" sz="1600" dirty="0"/>
          </a:p>
        </p:txBody>
      </p:sp>
      <p:sp>
        <p:nvSpPr>
          <p:cNvPr id="18" name="Shape 16"/>
          <p:cNvSpPr/>
          <p:nvPr/>
        </p:nvSpPr>
        <p:spPr>
          <a:xfrm>
            <a:off x="7955280" y="3840480"/>
            <a:ext cx="914400" cy="0"/>
          </a:xfrm>
          <a:prstGeom prst="line">
            <a:avLst/>
          </a:prstGeom>
          <a:noFill/>
          <a:ln w="31750">
            <a:solidFill>
              <a:srgbClr val="E07B39"/>
            </a:solidFill>
            <a:prstDash val="solid"/>
            <a:tailEnd type="triangle"/>
          </a:ln>
        </p:spPr>
      </p:sp>
      <p:sp>
        <p:nvSpPr>
          <p:cNvPr id="19" name="Shape 17"/>
          <p:cNvSpPr/>
          <p:nvPr/>
        </p:nvSpPr>
        <p:spPr>
          <a:xfrm>
            <a:off x="8961120" y="3246120"/>
            <a:ext cx="2560320" cy="1188720"/>
          </a:xfrm>
          <a:prstGeom prst="roundRect">
            <a:avLst>
              <a:gd name="adj" fmla="val 6154"/>
            </a:avLst>
          </a:prstGeom>
          <a:solidFill>
            <a:srgbClr val="FFFFFF"/>
          </a:solidFill>
          <a:ln w="19050">
            <a:solidFill>
              <a:srgbClr val="E07B39"/>
            </a:solidFill>
            <a:prstDash val="solid"/>
          </a:ln>
        </p:spPr>
      </p:sp>
      <p:sp>
        <p:nvSpPr>
          <p:cNvPr id="20" name="Text 18"/>
          <p:cNvSpPr/>
          <p:nvPr/>
        </p:nvSpPr>
        <p:spPr>
          <a:xfrm>
            <a:off x="8961120" y="3246120"/>
            <a:ext cx="2560320" cy="1188720"/>
          </a:xfrm>
          <a:prstGeom prst="rect">
            <a:avLst/>
          </a:prstGeom>
          <a:noFill/>
          <a:ln/>
        </p:spPr>
        <p:txBody>
          <a:bodyPr wrap="square" lIns="76200" tIns="76200" rIns="76200" bIns="76200" rtlCol="0" anchor="ctr"/>
          <a:lstStyle/>
          <a:p>
            <a:pPr algn="ctr" indent="0" marL="0">
              <a:buNone/>
            </a:pPr>
            <a:r>
              <a:rPr lang="en-US" sz="1350" dirty="0">
                <a:solidFill>
                  <a:srgbClr val="1F2933"/>
                </a:solidFill>
                <a:latin typeface="Segoe UI" pitchFamily="34" charset="0"/>
                <a:ea typeface="Segoe UI" pitchFamily="34" charset="-122"/>
                <a:cs typeface="Segoe UI" pitchFamily="34" charset="-120"/>
              </a:rPr>
              <a:t>Your new task</a:t>
            </a:r>
            <a:endParaRPr lang="en-US" sz="1350" dirty="0"/>
          </a:p>
          <a:p>
            <a:pPr algn="ctr" indent="0" marL="0">
              <a:buNone/>
            </a:pPr>
            <a:r>
              <a:rPr lang="en-US" sz="1350" dirty="0">
                <a:solidFill>
                  <a:srgbClr val="1F2933"/>
                </a:solidFill>
                <a:latin typeface="Segoe UI" pitchFamily="34" charset="0"/>
                <a:ea typeface="Segoe UI" pitchFamily="34" charset="-122"/>
                <a:cs typeface="Segoe UI" pitchFamily="34" charset="-120"/>
              </a:rPr>
              <a:t>(small tumor set)</a:t>
            </a:r>
            <a:endParaRPr lang="en-US" sz="1350" dirty="0"/>
          </a:p>
        </p:txBody>
      </p:sp>
      <p:sp>
        <p:nvSpPr>
          <p:cNvPr id="21" name="Text 19"/>
          <p:cNvSpPr/>
          <p:nvPr/>
        </p:nvSpPr>
        <p:spPr>
          <a:xfrm>
            <a:off x="640080" y="5257800"/>
            <a:ext cx="10881360" cy="365760"/>
          </a:xfrm>
          <a:prstGeom prst="rect">
            <a:avLst/>
          </a:prstGeom>
          <a:noFill/>
          <a:ln/>
        </p:spPr>
        <p:txBody>
          <a:bodyPr wrap="square" lIns="0" tIns="0" rIns="0" bIns="0" rtlCol="0" anchor="ctr"/>
          <a:lstStyle/>
          <a:p>
            <a:pPr algn="l" indent="0" marL="0">
              <a:buNone/>
            </a:pPr>
            <a:r>
              <a:rPr lang="en-US" sz="1100" i="1" dirty="0">
                <a:solidFill>
                  <a:srgbClr val="6B7280"/>
                </a:solidFill>
                <a:latin typeface="Segoe UI" pitchFamily="34" charset="0"/>
                <a:ea typeface="Segoe UI" pitchFamily="34" charset="-122"/>
                <a:cs typeface="Segoe UI" pitchFamily="34" charset="-120"/>
              </a:rPr>
              <a:t>MultiTalent-style ResEnc-L  ·  Zenodo 13753413  ·  4000 epochs  ·  192-cubed patches  ·  1 mm isotropic + Z-score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BACKGROUND</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What MultiTalent-style means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6</a:t>
            </a:r>
            <a:endParaRPr lang="en-US" sz="900" dirty="0"/>
          </a:p>
        </p:txBody>
      </p:sp>
      <p:sp>
        <p:nvSpPr>
          <p:cNvPr id="6" name="Text 4"/>
          <p:cNvSpPr/>
          <p:nvPr/>
        </p:nvSpPr>
        <p:spPr>
          <a:xfrm>
            <a:off x="640080" y="1828800"/>
            <a:ext cx="640080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One body, many segmentation heads</a:t>
            </a:r>
            <a:endParaRPr lang="en-US" sz="2000" dirty="0"/>
          </a:p>
        </p:txBody>
      </p:sp>
      <p:sp>
        <p:nvSpPr>
          <p:cNvPr id="7" name="Shape 5"/>
          <p:cNvSpPr/>
          <p:nvPr/>
        </p:nvSpPr>
        <p:spPr>
          <a:xfrm>
            <a:off x="640080" y="2743200"/>
            <a:ext cx="3291840" cy="1463040"/>
          </a:xfrm>
          <a:prstGeom prst="roundRect">
            <a:avLst>
              <a:gd name="adj" fmla="val 5000"/>
            </a:avLst>
          </a:prstGeom>
          <a:solidFill>
            <a:srgbClr val="1F2933"/>
          </a:solidFill>
          <a:ln/>
        </p:spPr>
      </p:sp>
      <p:sp>
        <p:nvSpPr>
          <p:cNvPr id="8" name="Text 6"/>
          <p:cNvSpPr/>
          <p:nvPr/>
        </p:nvSpPr>
        <p:spPr>
          <a:xfrm>
            <a:off x="640080" y="2743200"/>
            <a:ext cx="3291840" cy="1463040"/>
          </a:xfrm>
          <a:prstGeom prst="rect">
            <a:avLst/>
          </a:prstGeom>
          <a:noFill/>
          <a:ln/>
        </p:spPr>
        <p:txBody>
          <a:bodyPr wrap="square" lIns="76200" tIns="76200" rIns="76200" bIns="7620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Shared encoder</a:t>
            </a:r>
            <a:endParaRPr lang="en-US" sz="1600" dirty="0"/>
          </a:p>
          <a:p>
            <a:pPr algn="ctr" indent="0" marL="0">
              <a:buNone/>
            </a:pPr>
            <a:r>
              <a:rPr lang="en-US" sz="1600" b="1" dirty="0">
                <a:solidFill>
                  <a:srgbClr val="FFFFFF"/>
                </a:solidFill>
                <a:latin typeface="Segoe UI" pitchFamily="34" charset="0"/>
                <a:ea typeface="Segoe UI" pitchFamily="34" charset="-122"/>
                <a:cs typeface="Segoe UI" pitchFamily="34" charset="-120"/>
              </a:rPr>
              <a:t>+ decoder body</a:t>
            </a:r>
            <a:endParaRPr lang="en-US" sz="1600" dirty="0"/>
          </a:p>
        </p:txBody>
      </p:sp>
      <p:sp>
        <p:nvSpPr>
          <p:cNvPr id="9" name="Shape 7"/>
          <p:cNvSpPr/>
          <p:nvPr/>
        </p:nvSpPr>
        <p:spPr>
          <a:xfrm>
            <a:off x="5166360" y="2286000"/>
            <a:ext cx="2331720" cy="713232"/>
          </a:xfrm>
          <a:prstGeom prst="roundRect">
            <a:avLst>
              <a:gd name="adj" fmla="val 10256"/>
            </a:avLst>
          </a:prstGeom>
          <a:solidFill>
            <a:srgbClr val="FFFFFF"/>
          </a:solidFill>
          <a:ln w="19050">
            <a:solidFill>
              <a:srgbClr val="E07B39"/>
            </a:solidFill>
            <a:prstDash val="solid"/>
          </a:ln>
        </p:spPr>
      </p:sp>
      <p:sp>
        <p:nvSpPr>
          <p:cNvPr id="10" name="Text 8"/>
          <p:cNvSpPr/>
          <p:nvPr/>
        </p:nvSpPr>
        <p:spPr>
          <a:xfrm>
            <a:off x="5166360" y="2286000"/>
            <a:ext cx="2331720" cy="713232"/>
          </a:xfrm>
          <a:prstGeom prst="rect">
            <a:avLst/>
          </a:prstGeom>
          <a:noFill/>
          <a:ln/>
        </p:spPr>
        <p:txBody>
          <a:bodyPr wrap="square" lIns="76200" tIns="76200" rIns="76200" bIns="76200" rtlCol="0" anchor="ctr"/>
          <a:lstStyle/>
          <a:p>
            <a:pPr algn="ctr" indent="0" marL="0">
              <a:buNone/>
            </a:pPr>
            <a:r>
              <a:rPr lang="en-US" sz="1250" dirty="0">
                <a:solidFill>
                  <a:srgbClr val="1F2933"/>
                </a:solidFill>
                <a:latin typeface="Segoe UI" pitchFamily="34" charset="0"/>
                <a:ea typeface="Segoe UI" pitchFamily="34" charset="-122"/>
                <a:cs typeface="Segoe UI" pitchFamily="34" charset="-120"/>
              </a:rPr>
              <a:t>seg head: dataset 1</a:t>
            </a:r>
            <a:endParaRPr lang="en-US" sz="1250" dirty="0"/>
          </a:p>
        </p:txBody>
      </p:sp>
      <p:sp>
        <p:nvSpPr>
          <p:cNvPr id="11" name="Shape 9"/>
          <p:cNvSpPr/>
          <p:nvPr/>
        </p:nvSpPr>
        <p:spPr>
          <a:xfrm>
            <a:off x="5166360" y="3246120"/>
            <a:ext cx="2331720" cy="713232"/>
          </a:xfrm>
          <a:prstGeom prst="roundRect">
            <a:avLst>
              <a:gd name="adj" fmla="val 10256"/>
            </a:avLst>
          </a:prstGeom>
          <a:solidFill>
            <a:srgbClr val="FFFFFF"/>
          </a:solidFill>
          <a:ln w="19050">
            <a:solidFill>
              <a:srgbClr val="E07B39"/>
            </a:solidFill>
            <a:prstDash val="solid"/>
          </a:ln>
        </p:spPr>
      </p:sp>
      <p:sp>
        <p:nvSpPr>
          <p:cNvPr id="12" name="Text 10"/>
          <p:cNvSpPr/>
          <p:nvPr/>
        </p:nvSpPr>
        <p:spPr>
          <a:xfrm>
            <a:off x="5166360" y="3246120"/>
            <a:ext cx="2331720" cy="713232"/>
          </a:xfrm>
          <a:prstGeom prst="rect">
            <a:avLst/>
          </a:prstGeom>
          <a:noFill/>
          <a:ln/>
        </p:spPr>
        <p:txBody>
          <a:bodyPr wrap="square" lIns="76200" tIns="76200" rIns="76200" bIns="76200" rtlCol="0" anchor="ctr"/>
          <a:lstStyle/>
          <a:p>
            <a:pPr algn="ctr" indent="0" marL="0">
              <a:buNone/>
            </a:pPr>
            <a:r>
              <a:rPr lang="en-US" sz="1250" dirty="0">
                <a:solidFill>
                  <a:srgbClr val="1F2933"/>
                </a:solidFill>
                <a:latin typeface="Segoe UI" pitchFamily="34" charset="0"/>
                <a:ea typeface="Segoe UI" pitchFamily="34" charset="-122"/>
                <a:cs typeface="Segoe UI" pitchFamily="34" charset="-120"/>
              </a:rPr>
              <a:t>seg head: dataset 2</a:t>
            </a:r>
            <a:endParaRPr lang="en-US" sz="1250" dirty="0"/>
          </a:p>
        </p:txBody>
      </p:sp>
      <p:sp>
        <p:nvSpPr>
          <p:cNvPr id="13" name="Shape 11"/>
          <p:cNvSpPr/>
          <p:nvPr/>
        </p:nvSpPr>
        <p:spPr>
          <a:xfrm>
            <a:off x="5166360" y="4206240"/>
            <a:ext cx="2331720" cy="713232"/>
          </a:xfrm>
          <a:prstGeom prst="roundRect">
            <a:avLst>
              <a:gd name="adj" fmla="val 10256"/>
            </a:avLst>
          </a:prstGeom>
          <a:solidFill>
            <a:srgbClr val="FFFFFF"/>
          </a:solidFill>
          <a:ln w="19050">
            <a:solidFill>
              <a:srgbClr val="E07B39"/>
            </a:solidFill>
            <a:prstDash val="solid"/>
          </a:ln>
        </p:spPr>
      </p:sp>
      <p:sp>
        <p:nvSpPr>
          <p:cNvPr id="14" name="Text 12"/>
          <p:cNvSpPr/>
          <p:nvPr/>
        </p:nvSpPr>
        <p:spPr>
          <a:xfrm>
            <a:off x="5166360" y="4206240"/>
            <a:ext cx="2331720" cy="713232"/>
          </a:xfrm>
          <a:prstGeom prst="rect">
            <a:avLst/>
          </a:prstGeom>
          <a:noFill/>
          <a:ln/>
        </p:spPr>
        <p:txBody>
          <a:bodyPr wrap="square" lIns="76200" tIns="76200" rIns="76200" bIns="76200" rtlCol="0" anchor="ctr"/>
          <a:lstStyle/>
          <a:p>
            <a:pPr algn="ctr" indent="0" marL="0">
              <a:buNone/>
            </a:pPr>
            <a:r>
              <a:rPr lang="en-US" sz="1250" dirty="0">
                <a:solidFill>
                  <a:srgbClr val="1F2933"/>
                </a:solidFill>
                <a:latin typeface="Segoe UI" pitchFamily="34" charset="0"/>
                <a:ea typeface="Segoe UI" pitchFamily="34" charset="-122"/>
                <a:cs typeface="Segoe UI" pitchFamily="34" charset="-120"/>
              </a:rPr>
              <a:t>seg head: dataset N</a:t>
            </a:r>
            <a:endParaRPr lang="en-US" sz="1250" dirty="0"/>
          </a:p>
        </p:txBody>
      </p:sp>
      <p:sp>
        <p:nvSpPr>
          <p:cNvPr id="15" name="Shape 13"/>
          <p:cNvSpPr/>
          <p:nvPr/>
        </p:nvSpPr>
        <p:spPr>
          <a:xfrm>
            <a:off x="3931920" y="3474720"/>
            <a:ext cx="822960" cy="0"/>
          </a:xfrm>
          <a:prstGeom prst="line">
            <a:avLst/>
          </a:prstGeom>
          <a:noFill/>
          <a:ln w="25400">
            <a:solidFill>
              <a:srgbClr val="E07B39"/>
            </a:solidFill>
            <a:prstDash val="solid"/>
          </a:ln>
        </p:spPr>
      </p:sp>
      <p:sp>
        <p:nvSpPr>
          <p:cNvPr id="16" name="Shape 14"/>
          <p:cNvSpPr/>
          <p:nvPr/>
        </p:nvSpPr>
        <p:spPr>
          <a:xfrm>
            <a:off x="4754880" y="2642616"/>
            <a:ext cx="0" cy="1920240"/>
          </a:xfrm>
          <a:prstGeom prst="line">
            <a:avLst/>
          </a:prstGeom>
          <a:noFill/>
          <a:ln w="25400">
            <a:solidFill>
              <a:srgbClr val="E07B39"/>
            </a:solidFill>
            <a:prstDash val="solid"/>
          </a:ln>
        </p:spPr>
      </p:sp>
      <p:sp>
        <p:nvSpPr>
          <p:cNvPr id="17" name="Shape 15"/>
          <p:cNvSpPr/>
          <p:nvPr/>
        </p:nvSpPr>
        <p:spPr>
          <a:xfrm>
            <a:off x="4754880" y="2642616"/>
            <a:ext cx="411480" cy="0"/>
          </a:xfrm>
          <a:prstGeom prst="line">
            <a:avLst/>
          </a:prstGeom>
          <a:noFill/>
          <a:ln w="25400">
            <a:solidFill>
              <a:srgbClr val="E07B39"/>
            </a:solidFill>
            <a:prstDash val="solid"/>
            <a:tailEnd type="triangle"/>
          </a:ln>
        </p:spPr>
      </p:sp>
      <p:sp>
        <p:nvSpPr>
          <p:cNvPr id="18" name="Shape 16"/>
          <p:cNvSpPr/>
          <p:nvPr/>
        </p:nvSpPr>
        <p:spPr>
          <a:xfrm>
            <a:off x="4754880" y="3602736"/>
            <a:ext cx="411480" cy="0"/>
          </a:xfrm>
          <a:prstGeom prst="line">
            <a:avLst/>
          </a:prstGeom>
          <a:noFill/>
          <a:ln w="25400">
            <a:solidFill>
              <a:srgbClr val="E07B39"/>
            </a:solidFill>
            <a:prstDash val="solid"/>
            <a:tailEnd type="triangle"/>
          </a:ln>
        </p:spPr>
      </p:sp>
      <p:sp>
        <p:nvSpPr>
          <p:cNvPr id="19" name="Shape 17"/>
          <p:cNvSpPr/>
          <p:nvPr/>
        </p:nvSpPr>
        <p:spPr>
          <a:xfrm>
            <a:off x="4754880" y="4562856"/>
            <a:ext cx="411480" cy="0"/>
          </a:xfrm>
          <a:prstGeom prst="line">
            <a:avLst/>
          </a:prstGeom>
          <a:noFill/>
          <a:ln w="25400">
            <a:solidFill>
              <a:srgbClr val="E07B39"/>
            </a:solidFill>
            <a:prstDash val="solid"/>
            <a:tailEnd type="triangle"/>
          </a:ln>
        </p:spPr>
      </p:sp>
      <p:sp>
        <p:nvSpPr>
          <p:cNvPr id="20" name="Text 18"/>
          <p:cNvSpPr/>
          <p:nvPr/>
        </p:nvSpPr>
        <p:spPr>
          <a:xfrm>
            <a:off x="7818120" y="2697480"/>
            <a:ext cx="3703320" cy="219456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Each dataset has its own label set, so each gets its own segmentation head</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The shared body must learn anatomy useful across all of them</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Fine-tune: drop the heads, keep the body, attach one fresh head</a:t>
            </a:r>
            <a:endParaRPr lang="en-US" sz="1350" dirty="0"/>
          </a:p>
        </p:txBody>
      </p:sp>
      <p:sp>
        <p:nvSpPr>
          <p:cNvPr id="21" name="Text 19"/>
          <p:cNvSpPr/>
          <p:nvPr/>
        </p:nvSpPr>
        <p:spPr>
          <a:xfrm>
            <a:off x="640080" y="5349240"/>
            <a:ext cx="6858000" cy="365760"/>
          </a:xfrm>
          <a:prstGeom prst="rect">
            <a:avLst/>
          </a:prstGeom>
          <a:noFill/>
          <a:ln/>
        </p:spPr>
        <p:txBody>
          <a:bodyPr wrap="square" lIns="0" tIns="0" rIns="0" bIns="0" rtlCol="0" anchor="ctr"/>
          <a:lstStyle/>
          <a:p>
            <a:pPr algn="l" indent="0" marL="0">
              <a:buNone/>
            </a:pPr>
            <a:r>
              <a:rPr lang="en-US" sz="1100" i="1" dirty="0">
                <a:solidFill>
                  <a:srgbClr val="6B7280"/>
                </a:solidFill>
                <a:latin typeface="Segoe UI" pitchFamily="34" charset="0"/>
                <a:ea typeface="Segoe UI" pitchFamily="34" charset="-122"/>
                <a:cs typeface="Segoe UI" pitchFamily="34" charset="-120"/>
              </a:rPr>
              <a:t>MultiTalent: arXiv:2303.14444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BACKGROUND</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Default fine-tuning can be sub-optimal</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7</a:t>
            </a:r>
            <a:endParaRPr lang="en-US" sz="900" dirty="0"/>
          </a:p>
        </p:txBody>
      </p:sp>
      <p:sp>
        <p:nvSpPr>
          <p:cNvPr id="6" name="Shape 4"/>
          <p:cNvSpPr/>
          <p:nvPr/>
        </p:nvSpPr>
        <p:spPr>
          <a:xfrm>
            <a:off x="640080" y="2286000"/>
            <a:ext cx="5120640" cy="2286000"/>
          </a:xfrm>
          <a:prstGeom prst="roundRect">
            <a:avLst>
              <a:gd name="adj" fmla="val 3200"/>
            </a:avLst>
          </a:prstGeom>
          <a:solidFill>
            <a:srgbClr val="F4F6F8"/>
          </a:solidFill>
          <a:ln w="12700">
            <a:solidFill>
              <a:srgbClr val="DDE3EA"/>
            </a:solidFill>
            <a:prstDash val="solid"/>
          </a:ln>
          <a:effectLst>
            <a:outerShdw sx="100000" sy="100000" kx="0" ky="0" algn="bl" rotWithShape="0" blurRad="88900" dist="38100" dir="5400000">
              <a:srgbClr val="8A97A6">
                <a:alpha val="22000"/>
              </a:srgbClr>
            </a:outerShdw>
          </a:effectLst>
        </p:spPr>
      </p:sp>
      <p:sp>
        <p:nvSpPr>
          <p:cNvPr id="7" name="Text 5"/>
          <p:cNvSpPr/>
          <p:nvPr/>
        </p:nvSpPr>
        <p:spPr>
          <a:xfrm>
            <a:off x="1005840" y="2560320"/>
            <a:ext cx="4389120" cy="457200"/>
          </a:xfrm>
          <a:prstGeom prst="rect">
            <a:avLst/>
          </a:prstGeom>
          <a:noFill/>
          <a:ln/>
        </p:spPr>
        <p:txBody>
          <a:bodyPr wrap="square" lIns="0" tIns="0" rIns="0" bIns="0" rtlCol="0" anchor="ctr"/>
          <a:lstStyle/>
          <a:p>
            <a:pPr indent="0" marL="0">
              <a:buNone/>
            </a:pPr>
            <a:r>
              <a:rPr lang="en-US" sz="1800" b="1" dirty="0">
                <a:solidFill>
                  <a:srgbClr val="1F2933"/>
                </a:solidFill>
                <a:latin typeface="Segoe UI" pitchFamily="34" charset="0"/>
                <a:ea typeface="Segoe UI" pitchFamily="34" charset="-122"/>
                <a:cs typeface="Segoe UI" pitchFamily="34" charset="-120"/>
              </a:rPr>
              <a:t>1.  Preprocessing mismatch</a:t>
            </a:r>
            <a:endParaRPr lang="en-US" sz="1800" dirty="0"/>
          </a:p>
        </p:txBody>
      </p:sp>
      <p:sp>
        <p:nvSpPr>
          <p:cNvPr id="8" name="Text 6"/>
          <p:cNvSpPr/>
          <p:nvPr/>
        </p:nvSpPr>
        <p:spPr>
          <a:xfrm>
            <a:off x="1005840" y="3063240"/>
            <a:ext cx="4480560" cy="1280160"/>
          </a:xfrm>
          <a:prstGeom prst="rect">
            <a:avLst/>
          </a:prstGeom>
          <a:noFill/>
          <a:ln/>
        </p:spPr>
        <p:txBody>
          <a:bodyPr wrap="square" lIns="0" tIns="0" rIns="0" bIns="0" rtlCol="0" anchor="t"/>
          <a:lstStyle/>
          <a:p>
            <a:pPr indent="0" marL="0">
              <a:buNone/>
            </a:pPr>
            <a:r>
              <a:rPr lang="en-US" sz="1400" dirty="0">
                <a:solidFill>
                  <a:srgbClr val="6B7280"/>
                </a:solidFill>
                <a:latin typeface="Segoe UI" pitchFamily="34" charset="0"/>
                <a:ea typeface="Segoe UI" pitchFamily="34" charset="-122"/>
                <a:cs typeface="Segoe UI" pitchFamily="34" charset="-120"/>
              </a:rPr>
              <a:t>Let nnU-Net re-plan with its own spacing and the pretrained encoder sees inputs unlike its training data.</a:t>
            </a:r>
            <a:endParaRPr lang="en-US" sz="1400" dirty="0"/>
          </a:p>
        </p:txBody>
      </p:sp>
      <p:sp>
        <p:nvSpPr>
          <p:cNvPr id="9" name="Shape 7"/>
          <p:cNvSpPr/>
          <p:nvPr/>
        </p:nvSpPr>
        <p:spPr>
          <a:xfrm>
            <a:off x="6400800" y="2286000"/>
            <a:ext cx="5120640" cy="2286000"/>
          </a:xfrm>
          <a:prstGeom prst="roundRect">
            <a:avLst>
              <a:gd name="adj" fmla="val 3200"/>
            </a:avLst>
          </a:prstGeom>
          <a:solidFill>
            <a:srgbClr val="F4F6F8"/>
          </a:solidFill>
          <a:ln w="12700">
            <a:solidFill>
              <a:srgbClr val="DDE3EA"/>
            </a:solidFill>
            <a:prstDash val="solid"/>
          </a:ln>
          <a:effectLst>
            <a:outerShdw sx="100000" sy="100000" kx="0" ky="0" algn="bl" rotWithShape="0" blurRad="88900" dist="38100" dir="5400000">
              <a:srgbClr val="8A97A6">
                <a:alpha val="22000"/>
              </a:srgbClr>
            </a:outerShdw>
          </a:effectLst>
        </p:spPr>
      </p:sp>
      <p:sp>
        <p:nvSpPr>
          <p:cNvPr id="10" name="Text 8"/>
          <p:cNvSpPr/>
          <p:nvPr/>
        </p:nvSpPr>
        <p:spPr>
          <a:xfrm>
            <a:off x="6766560" y="2560320"/>
            <a:ext cx="4389120" cy="457200"/>
          </a:xfrm>
          <a:prstGeom prst="rect">
            <a:avLst/>
          </a:prstGeom>
          <a:noFill/>
          <a:ln/>
        </p:spPr>
        <p:txBody>
          <a:bodyPr wrap="square" lIns="0" tIns="0" rIns="0" bIns="0" rtlCol="0" anchor="ctr"/>
          <a:lstStyle/>
          <a:p>
            <a:pPr indent="0" marL="0">
              <a:buNone/>
            </a:pPr>
            <a:r>
              <a:rPr lang="en-US" sz="1800" b="1" dirty="0">
                <a:solidFill>
                  <a:srgbClr val="1F2933"/>
                </a:solidFill>
                <a:latin typeface="Segoe UI" pitchFamily="34" charset="0"/>
                <a:ea typeface="Segoe UI" pitchFamily="34" charset="-122"/>
                <a:cs typeface="Segoe UI" pitchFamily="34" charset="-120"/>
              </a:rPr>
              <a:t>2.  Learning rate 0.01, no warm-up</a:t>
            </a:r>
            <a:endParaRPr lang="en-US" sz="1800" dirty="0"/>
          </a:p>
        </p:txBody>
      </p:sp>
      <p:sp>
        <p:nvSpPr>
          <p:cNvPr id="11" name="Text 9"/>
          <p:cNvSpPr/>
          <p:nvPr/>
        </p:nvSpPr>
        <p:spPr>
          <a:xfrm>
            <a:off x="6766560" y="3063240"/>
            <a:ext cx="4480560" cy="1280160"/>
          </a:xfrm>
          <a:prstGeom prst="rect">
            <a:avLst/>
          </a:prstGeom>
          <a:noFill/>
          <a:ln/>
        </p:spPr>
        <p:txBody>
          <a:bodyPr wrap="square" lIns="0" tIns="0" rIns="0" bIns="0" rtlCol="0" anchor="t"/>
          <a:lstStyle/>
          <a:p>
            <a:pPr indent="0" marL="0">
              <a:buNone/>
            </a:pPr>
            <a:r>
              <a:rPr lang="en-US" sz="1400" dirty="0">
                <a:solidFill>
                  <a:srgbClr val="6B7280"/>
                </a:solidFill>
                <a:latin typeface="Segoe UI" pitchFamily="34" charset="0"/>
                <a:ea typeface="Segoe UI" pitchFamily="34" charset="-122"/>
                <a:cs typeface="Segoe UI" pitchFamily="34" charset="-120"/>
              </a:rPr>
              <a:t>The default LR moves the good pretrained weights too far, too early in fine-tuning.</a:t>
            </a:r>
            <a:endParaRPr lang="en-US" sz="1400" dirty="0"/>
          </a:p>
        </p:txBody>
      </p:sp>
      <p:sp>
        <p:nvSpPr>
          <p:cNvPr id="12" name="Text 10"/>
          <p:cNvSpPr/>
          <p:nvPr/>
        </p:nvSpPr>
        <p:spPr>
          <a:xfrm>
            <a:off x="640080" y="4846320"/>
            <a:ext cx="10607040" cy="548640"/>
          </a:xfrm>
          <a:prstGeom prst="rect">
            <a:avLst/>
          </a:prstGeom>
          <a:noFill/>
          <a:ln/>
        </p:spPr>
        <p:txBody>
          <a:bodyPr wrap="square" lIns="0" tIns="0" rIns="0" bIns="0" rtlCol="0" anchor="ctr"/>
          <a:lstStyle/>
          <a:p>
            <a:pPr algn="ctr" indent="0" marL="0">
              <a:buNone/>
            </a:pPr>
            <a:r>
              <a:rPr lang="en-US" sz="1600" i="1" dirty="0">
                <a:solidFill>
                  <a:srgbClr val="1F2933"/>
                </a:solidFill>
                <a:latin typeface="Segoe UI" pitchFamily="34" charset="0"/>
                <a:ea typeface="Segoe UI" pitchFamily="34" charset="-122"/>
                <a:cs typeface="Segoe UI" pitchFamily="34" charset="-120"/>
              </a:rPr>
              <a:t>Neither means fine-tuning is broken. Both are fixable recipe mistakes, and we fix both.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BACKGROUND</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fix in one picture</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8</a:t>
            </a:r>
            <a:endParaRPr lang="en-US" sz="900" dirty="0"/>
          </a:p>
        </p:txBody>
      </p:sp>
      <p:sp>
        <p:nvSpPr>
          <p:cNvPr id="6" name="Text 4"/>
          <p:cNvSpPr/>
          <p:nvPr/>
        </p:nvSpPr>
        <p:spPr>
          <a:xfrm>
            <a:off x="640080" y="1783080"/>
            <a:ext cx="10607040" cy="365760"/>
          </a:xfrm>
          <a:prstGeom prst="rect">
            <a:avLst/>
          </a:prstGeom>
          <a:noFill/>
          <a:ln/>
        </p:spPr>
        <p:txBody>
          <a:bodyPr wrap="square" lIns="0" tIns="0" rIns="0" bIns="0" rtlCol="0" anchor="ctr"/>
          <a:lstStyle/>
          <a:p>
            <a:pPr indent="0" marL="0">
              <a:buNone/>
            </a:pPr>
            <a:r>
              <a:rPr lang="en-US" sz="1500" i="1" dirty="0">
                <a:solidFill>
                  <a:srgbClr val="6B7280"/>
                </a:solidFill>
                <a:latin typeface="Segoe UI" pitchFamily="34" charset="0"/>
                <a:ea typeface="Segoe UI" pitchFamily="34" charset="-122"/>
                <a:cs typeface="Segoe UI" pitchFamily="34" charset="-120"/>
              </a:rPr>
              <a:t>This is the whole talk on one slide.</a:t>
            </a:r>
            <a:endParaRPr lang="en-US" sz="1500" dirty="0"/>
          </a:p>
        </p:txBody>
      </p:sp>
      <p:sp>
        <p:nvSpPr>
          <p:cNvPr id="7" name="Shape 5"/>
          <p:cNvSpPr/>
          <p:nvPr/>
        </p:nvSpPr>
        <p:spPr>
          <a:xfrm>
            <a:off x="1005840" y="2468880"/>
            <a:ext cx="566928" cy="566928"/>
          </a:xfrm>
          <a:prstGeom prst="ellipse">
            <a:avLst/>
          </a:prstGeom>
          <a:solidFill>
            <a:srgbClr val="E07B39"/>
          </a:solidFill>
          <a:ln/>
        </p:spPr>
      </p:sp>
      <p:sp>
        <p:nvSpPr>
          <p:cNvPr id="8" name="Text 6"/>
          <p:cNvSpPr/>
          <p:nvPr/>
        </p:nvSpPr>
        <p:spPr>
          <a:xfrm>
            <a:off x="1005840" y="2468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9" name="Text 7"/>
          <p:cNvSpPr/>
          <p:nvPr/>
        </p:nvSpPr>
        <p:spPr>
          <a:xfrm>
            <a:off x="1847088" y="2414016"/>
            <a:ext cx="9217152" cy="384048"/>
          </a:xfrm>
          <a:prstGeom prst="rect">
            <a:avLst/>
          </a:prstGeom>
          <a:noFill/>
          <a:ln/>
        </p:spPr>
        <p:txBody>
          <a:bodyPr wrap="square" lIns="0" tIns="0" rIns="0" bIns="0" rtlCol="0" anchor="ctr"/>
          <a:lstStyle/>
          <a:p>
            <a:pPr indent="0" marL="0">
              <a:buNone/>
            </a:pPr>
            <a:r>
              <a:rPr lang="en-US" sz="1900" b="1" dirty="0">
                <a:solidFill>
                  <a:srgbClr val="1F2933"/>
                </a:solidFill>
                <a:latin typeface="Segoe UI" pitchFamily="34" charset="0"/>
                <a:ea typeface="Segoe UI" pitchFamily="34" charset="-122"/>
                <a:cs typeface="Segoe UI" pitchFamily="34" charset="-120"/>
              </a:rPr>
              <a:t>Match the preprocessing</a:t>
            </a:r>
            <a:endParaRPr lang="en-US" sz="1900" dirty="0"/>
          </a:p>
        </p:txBody>
      </p:sp>
      <p:sp>
        <p:nvSpPr>
          <p:cNvPr id="10" name="Text 8"/>
          <p:cNvSpPr/>
          <p:nvPr/>
        </p:nvSpPr>
        <p:spPr>
          <a:xfrm>
            <a:off x="1847088" y="2834640"/>
            <a:ext cx="9217152" cy="457200"/>
          </a:xfrm>
          <a:prstGeom prst="rect">
            <a:avLst/>
          </a:prstGeom>
          <a:noFill/>
          <a:ln/>
        </p:spPr>
        <p:txBody>
          <a:bodyPr wrap="square" lIns="0" tIns="0" rIns="0" bIns="0" rtlCol="0" anchor="t"/>
          <a:lstStyle/>
          <a:p>
            <a:pPr indent="0" marL="0">
              <a:buNone/>
            </a:pPr>
            <a:r>
              <a:rPr lang="en-US" sz="1350" dirty="0">
                <a:solidFill>
                  <a:srgbClr val="6B7280"/>
                </a:solidFill>
                <a:latin typeface="Segoe UI" pitchFamily="34" charset="0"/>
                <a:ea typeface="Segoe UI" pitchFamily="34" charset="-122"/>
                <a:cs typeface="Segoe UI" pitchFamily="34" charset="-120"/>
              </a:rPr>
              <a:t>Resample and normalize the way the pretraining did (1 mm isotropic + Z-score).</a:t>
            </a:r>
            <a:endParaRPr lang="en-US" sz="1350" dirty="0"/>
          </a:p>
        </p:txBody>
      </p:sp>
      <p:sp>
        <p:nvSpPr>
          <p:cNvPr id="11" name="Shape 9"/>
          <p:cNvSpPr/>
          <p:nvPr/>
        </p:nvSpPr>
        <p:spPr>
          <a:xfrm>
            <a:off x="1005840" y="3703320"/>
            <a:ext cx="566928" cy="566928"/>
          </a:xfrm>
          <a:prstGeom prst="ellipse">
            <a:avLst/>
          </a:prstGeom>
          <a:solidFill>
            <a:srgbClr val="E07B39"/>
          </a:solidFill>
          <a:ln/>
        </p:spPr>
      </p:sp>
      <p:sp>
        <p:nvSpPr>
          <p:cNvPr id="12" name="Text 10"/>
          <p:cNvSpPr/>
          <p:nvPr/>
        </p:nvSpPr>
        <p:spPr>
          <a:xfrm>
            <a:off x="1005840" y="37033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3" name="Text 11"/>
          <p:cNvSpPr/>
          <p:nvPr/>
        </p:nvSpPr>
        <p:spPr>
          <a:xfrm>
            <a:off x="1847088" y="3648456"/>
            <a:ext cx="9217152" cy="384048"/>
          </a:xfrm>
          <a:prstGeom prst="rect">
            <a:avLst/>
          </a:prstGeom>
          <a:noFill/>
          <a:ln/>
        </p:spPr>
        <p:txBody>
          <a:bodyPr wrap="square" lIns="0" tIns="0" rIns="0" bIns="0" rtlCol="0" anchor="ctr"/>
          <a:lstStyle/>
          <a:p>
            <a:pPr indent="0" marL="0">
              <a:buNone/>
            </a:pPr>
            <a:r>
              <a:rPr lang="en-US" sz="1900" b="1" dirty="0">
                <a:solidFill>
                  <a:srgbClr val="1F2933"/>
                </a:solidFill>
                <a:latin typeface="Segoe UI" pitchFamily="34" charset="0"/>
                <a:ea typeface="Segoe UI" pitchFamily="34" charset="-122"/>
                <a:cs typeface="Segoe UI" pitchFamily="34" charset="-120"/>
              </a:rPr>
              <a:t>Transfer the body, re-initialize the heads</a:t>
            </a:r>
            <a:endParaRPr lang="en-US" sz="1900" dirty="0"/>
          </a:p>
        </p:txBody>
      </p:sp>
      <p:sp>
        <p:nvSpPr>
          <p:cNvPr id="14" name="Text 12"/>
          <p:cNvSpPr/>
          <p:nvPr/>
        </p:nvSpPr>
        <p:spPr>
          <a:xfrm>
            <a:off x="1847088" y="4069080"/>
            <a:ext cx="9217152" cy="457200"/>
          </a:xfrm>
          <a:prstGeom prst="rect">
            <a:avLst/>
          </a:prstGeom>
          <a:noFill/>
          <a:ln/>
        </p:spPr>
        <p:txBody>
          <a:bodyPr wrap="square" lIns="0" tIns="0" rIns="0" bIns="0" rtlCol="0" anchor="t"/>
          <a:lstStyle/>
          <a:p>
            <a:pPr indent="0" marL="0">
              <a:buNone/>
            </a:pPr>
            <a:r>
              <a:rPr lang="en-US" sz="1350" dirty="0">
                <a:solidFill>
                  <a:srgbClr val="6B7280"/>
                </a:solidFill>
                <a:latin typeface="Segoe UI" pitchFamily="34" charset="0"/>
                <a:ea typeface="Segoe UI" pitchFamily="34" charset="-122"/>
                <a:cs typeface="Segoe UI" pitchFamily="34" charset="-120"/>
              </a:rPr>
              <a:t>Load encoder + decoder body; randomly re-init all deep-supervision seg_layers.</a:t>
            </a:r>
            <a:endParaRPr lang="en-US" sz="1350" dirty="0"/>
          </a:p>
        </p:txBody>
      </p:sp>
      <p:sp>
        <p:nvSpPr>
          <p:cNvPr id="15" name="Shape 13"/>
          <p:cNvSpPr/>
          <p:nvPr/>
        </p:nvSpPr>
        <p:spPr>
          <a:xfrm>
            <a:off x="1005840" y="4937760"/>
            <a:ext cx="566928" cy="566928"/>
          </a:xfrm>
          <a:prstGeom prst="ellipse">
            <a:avLst/>
          </a:prstGeom>
          <a:solidFill>
            <a:srgbClr val="E07B39"/>
          </a:solidFill>
          <a:ln/>
        </p:spPr>
      </p:sp>
      <p:sp>
        <p:nvSpPr>
          <p:cNvPr id="16" name="Text 14"/>
          <p:cNvSpPr/>
          <p:nvPr/>
        </p:nvSpPr>
        <p:spPr>
          <a:xfrm>
            <a:off x="1005840" y="49377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7" name="Text 15"/>
          <p:cNvSpPr/>
          <p:nvPr/>
        </p:nvSpPr>
        <p:spPr>
          <a:xfrm>
            <a:off x="1847088" y="4882896"/>
            <a:ext cx="9217152" cy="384048"/>
          </a:xfrm>
          <a:prstGeom prst="rect">
            <a:avLst/>
          </a:prstGeom>
          <a:noFill/>
          <a:ln/>
        </p:spPr>
        <p:txBody>
          <a:bodyPr wrap="square" lIns="0" tIns="0" rIns="0" bIns="0" rtlCol="0" anchor="ctr"/>
          <a:lstStyle/>
          <a:p>
            <a:pPr indent="0" marL="0">
              <a:buNone/>
            </a:pPr>
            <a:r>
              <a:rPr lang="en-US" sz="1900" b="1" dirty="0">
                <a:solidFill>
                  <a:srgbClr val="1F2933"/>
                </a:solidFill>
                <a:latin typeface="Segoe UI" pitchFamily="34" charset="0"/>
                <a:ea typeface="Segoe UI" pitchFamily="34" charset="-122"/>
                <a:cs typeface="Segoe UI" pitchFamily="34" charset="-120"/>
              </a:rPr>
              <a:t>Two-phase learning-rate schedule</a:t>
            </a:r>
            <a:endParaRPr lang="en-US" sz="1900" dirty="0"/>
          </a:p>
        </p:txBody>
      </p:sp>
      <p:sp>
        <p:nvSpPr>
          <p:cNvPr id="18" name="Text 16"/>
          <p:cNvSpPr/>
          <p:nvPr/>
        </p:nvSpPr>
        <p:spPr>
          <a:xfrm>
            <a:off x="1847088" y="5303520"/>
            <a:ext cx="9217152" cy="457200"/>
          </a:xfrm>
          <a:prstGeom prst="rect">
            <a:avLst/>
          </a:prstGeom>
          <a:noFill/>
          <a:ln/>
        </p:spPr>
        <p:txBody>
          <a:bodyPr wrap="square" lIns="0" tIns="0" rIns="0" bIns="0" rtlCol="0" anchor="t"/>
          <a:lstStyle/>
          <a:p>
            <a:pPr indent="0" marL="0">
              <a:buNone/>
            </a:pPr>
            <a:r>
              <a:rPr lang="en-US" sz="1350" dirty="0">
                <a:solidFill>
                  <a:srgbClr val="6B7280"/>
                </a:solidFill>
                <a:latin typeface="Segoe UI" pitchFamily="34" charset="0"/>
                <a:ea typeface="Segoe UI" pitchFamily="34" charset="-122"/>
                <a:cs typeface="Segoe UI" pitchFamily="34" charset="-120"/>
              </a:rPr>
              <a:t>Ease in with a linear warm-up, then decay. The whole network trains throughout.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2331720"/>
            <a:ext cx="10607040" cy="365760"/>
          </a:xfrm>
          <a:prstGeom prst="rect">
            <a:avLst/>
          </a:prstGeom>
          <a:noFill/>
          <a:ln/>
        </p:spPr>
        <p:txBody>
          <a:bodyPr wrap="square" lIns="0" tIns="0" rIns="0" bIns="0" rtlCol="0" anchor="ctr"/>
          <a:lstStyle/>
          <a:p>
            <a:pPr indent="0" marL="0">
              <a:buNone/>
            </a:pPr>
            <a:r>
              <a:rPr lang="en-US" sz="1300" b="1" spc="400" kern="0" dirty="0">
                <a:solidFill>
                  <a:srgbClr val="E07B39"/>
                </a:solidFill>
                <a:latin typeface="Segoe UI" pitchFamily="34" charset="0"/>
                <a:ea typeface="Segoe UI" pitchFamily="34" charset="-122"/>
                <a:cs typeface="Segoe UI" pitchFamily="34" charset="-120"/>
              </a:rPr>
              <a:t>Section 2</a:t>
            </a:r>
            <a:endParaRPr lang="en-US" sz="1300" dirty="0"/>
          </a:p>
        </p:txBody>
      </p:sp>
      <p:sp>
        <p:nvSpPr>
          <p:cNvPr id="3" name="Text 1"/>
          <p:cNvSpPr/>
          <p:nvPr/>
        </p:nvSpPr>
        <p:spPr>
          <a:xfrm>
            <a:off x="640080" y="2788920"/>
            <a:ext cx="10607040" cy="9601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Data preparation</a:t>
            </a:r>
            <a:endParaRPr lang="en-US" sz="4000" dirty="0"/>
          </a:p>
        </p:txBody>
      </p:sp>
      <p:sp>
        <p:nvSpPr>
          <p:cNvPr id="4" name="Text 2"/>
          <p:cNvSpPr/>
          <p:nvPr/>
        </p:nvSpPr>
        <p:spPr>
          <a:xfrm>
            <a:off x="640080" y="3931920"/>
            <a:ext cx="10607040" cy="457200"/>
          </a:xfrm>
          <a:prstGeom prst="rect">
            <a:avLst/>
          </a:prstGeom>
          <a:noFill/>
          <a:ln/>
        </p:spPr>
        <p:txBody>
          <a:bodyPr wrap="square" lIns="0" tIns="0" rIns="0" bIns="0" rtlCol="0" anchor="ctr"/>
          <a:lstStyle/>
          <a:p>
            <a:pPr indent="0" marL="0">
              <a:buNone/>
            </a:pPr>
            <a:r>
              <a:rPr lang="en-US" sz="1700" dirty="0">
                <a:solidFill>
                  <a:srgbClr val="9AA6B2"/>
                </a:solidFill>
                <a:latin typeface="Segoe UI" pitchFamily="34" charset="0"/>
                <a:ea typeface="Segoe UI" pitchFamily="34" charset="-122"/>
                <a:cs typeface="Segoe UI" pitchFamily="34" charset="-120"/>
              </a:rPr>
              <a:t>Match the checkpoint's preprocessing  ·  Notebook 01</a:t>
            </a:r>
            <a:endParaRPr lang="en-US" sz="17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9AA6B2"/>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DATA PREPARATION  ·  NOTEBOOK 01</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nnU-Net dataset format</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10</a:t>
            </a:r>
            <a:endParaRPr lang="en-US" sz="900" dirty="0"/>
          </a:p>
        </p:txBody>
      </p:sp>
      <p:sp>
        <p:nvSpPr>
          <p:cNvPr id="6" name="Shape 4"/>
          <p:cNvSpPr/>
          <p:nvPr/>
        </p:nvSpPr>
        <p:spPr>
          <a:xfrm>
            <a:off x="640080" y="2103120"/>
            <a:ext cx="6949440" cy="2743200"/>
          </a:xfrm>
          <a:prstGeom prst="roundRect">
            <a:avLst>
              <a:gd name="adj" fmla="val 2000"/>
            </a:avLst>
          </a:prstGeom>
          <a:solidFill>
            <a:srgbClr val="1F2933"/>
          </a:solidFill>
          <a:ln/>
        </p:spPr>
      </p:sp>
      <p:sp>
        <p:nvSpPr>
          <p:cNvPr id="7" name="Text 5"/>
          <p:cNvSpPr/>
          <p:nvPr/>
        </p:nvSpPr>
        <p:spPr>
          <a:xfrm>
            <a:off x="804672" y="1792224"/>
            <a:ext cx="6620256" cy="274320"/>
          </a:xfrm>
          <a:prstGeom prst="rect">
            <a:avLst/>
          </a:prstGeom>
          <a:noFill/>
          <a:ln/>
        </p:spPr>
        <p:txBody>
          <a:bodyPr wrap="square" lIns="0" tIns="0" rIns="0" bIns="0" rtlCol="0" anchor="ctr"/>
          <a:lstStyle/>
          <a:p>
            <a:pPr indent="0" marL="0">
              <a:buNone/>
            </a:pPr>
            <a:r>
              <a:rPr lang="en-US" sz="950" b="1" spc="200" kern="0" dirty="0">
                <a:solidFill>
                  <a:srgbClr val="6B7280"/>
                </a:solidFill>
                <a:latin typeface="Segoe UI" pitchFamily="34" charset="0"/>
                <a:ea typeface="Segoe UI" pitchFamily="34" charset="-122"/>
                <a:cs typeface="Segoe UI" pitchFamily="34" charset="-120"/>
              </a:rPr>
              <a:t>NNU-NET RAW LAYOUT</a:t>
            </a:r>
            <a:endParaRPr lang="en-US" sz="950" dirty="0"/>
          </a:p>
        </p:txBody>
      </p:sp>
      <p:sp>
        <p:nvSpPr>
          <p:cNvPr id="8" name="Text 6"/>
          <p:cNvSpPr/>
          <p:nvPr/>
        </p:nvSpPr>
        <p:spPr>
          <a:xfrm>
            <a:off x="868680" y="2267712"/>
            <a:ext cx="6492240" cy="2414016"/>
          </a:xfrm>
          <a:prstGeom prst="rect">
            <a:avLst/>
          </a:prstGeom>
          <a:noFill/>
          <a:ln/>
        </p:spPr>
        <p:txBody>
          <a:bodyPr wrap="square" lIns="0" tIns="0" rIns="0" bIns="0" rtlCol="0" anchor="t"/>
          <a:lstStyle/>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Dataset999_Phantom/</a:t>
            </a:r>
            <a:endParaRPr lang="en-US" sz="1500" dirty="0"/>
          </a:p>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 imagesTr/</a:t>
            </a:r>
            <a:endParaRPr lang="en-US" sz="1500" dirty="0"/>
          </a:p>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   └── PHANTOM_001</a:t>
            </a:r>
            <a:pPr indent="0" marL="0">
              <a:lnSpc>
                <a:spcPct val="112000"/>
              </a:lnSpc>
              <a:buNone/>
            </a:pPr>
            <a:r>
              <a:rPr lang="en-US" sz="1500" b="1" dirty="0">
                <a:solidFill>
                  <a:srgbClr val="E07B39"/>
                </a:solidFill>
                <a:latin typeface="Consolas" pitchFamily="34" charset="0"/>
                <a:ea typeface="Consolas" pitchFamily="34" charset="-122"/>
                <a:cs typeface="Consolas" pitchFamily="34" charset="-120"/>
              </a:rPr>
              <a:t>_0000</a:t>
            </a:r>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.nii.gz</a:t>
            </a:r>
            <a:endParaRPr lang="en-US" sz="1500" dirty="0"/>
          </a:p>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 labelsTr/</a:t>
            </a:r>
            <a:endParaRPr lang="en-US" sz="1500" dirty="0"/>
          </a:p>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   └── PHANTOM_001.nii.gz</a:t>
            </a:r>
            <a:endParaRPr lang="en-US" sz="1500" dirty="0"/>
          </a:p>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 dataset.json</a:t>
            </a:r>
            <a:endParaRPr lang="en-US" sz="1500" dirty="0"/>
          </a:p>
        </p:txBody>
      </p:sp>
      <p:sp>
        <p:nvSpPr>
          <p:cNvPr id="9" name="Text 7"/>
          <p:cNvSpPr/>
          <p:nvPr/>
        </p:nvSpPr>
        <p:spPr>
          <a:xfrm>
            <a:off x="7955280" y="2194560"/>
            <a:ext cx="3566160" cy="274320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_0000 is the channel/modality suffix (first modality)</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The label shares the case id, no suffix</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dataset.json declares channel_names and labels</a:t>
            </a:r>
            <a:endParaRPr lang="en-US" sz="1400" dirty="0"/>
          </a:p>
        </p:txBody>
      </p:sp>
      <p:sp>
        <p:nvSpPr>
          <p:cNvPr id="10" name="Text 8"/>
          <p:cNvSpPr/>
          <p:nvPr/>
        </p:nvSpPr>
        <p:spPr>
          <a:xfrm>
            <a:off x="640080" y="5029200"/>
            <a:ext cx="6949440" cy="365760"/>
          </a:xfrm>
          <a:prstGeom prst="rect">
            <a:avLst/>
          </a:prstGeom>
          <a:noFill/>
          <a:ln/>
        </p:spPr>
        <p:txBody>
          <a:bodyPr wrap="square" lIns="0" tIns="0" rIns="0" bIns="0" rtlCol="0" anchor="ctr"/>
          <a:lstStyle/>
          <a:p>
            <a:pPr algn="l" indent="0" marL="0">
              <a:buNone/>
            </a:pPr>
            <a:r>
              <a:rPr lang="en-US" sz="1100" i="1" dirty="0">
                <a:solidFill>
                  <a:srgbClr val="6B7280"/>
                </a:solidFill>
                <a:latin typeface="Segoe UI" pitchFamily="34" charset="0"/>
                <a:ea typeface="Segoe UI" pitchFamily="34" charset="-122"/>
                <a:cs typeface="Segoe UI" pitchFamily="34" charset="-120"/>
              </a:rPr>
              <a:t>Our synthetic phantom follows this layout exactly.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DATA PREPARATION  ·  NOTEBOOK 01</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Match the preprocessing</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11</a:t>
            </a:r>
            <a:endParaRPr lang="en-US" sz="900" dirty="0"/>
          </a:p>
        </p:txBody>
      </p:sp>
      <p:sp>
        <p:nvSpPr>
          <p:cNvPr id="6" name="Text 4"/>
          <p:cNvSpPr/>
          <p:nvPr/>
        </p:nvSpPr>
        <p:spPr>
          <a:xfrm>
            <a:off x="640080" y="2011680"/>
            <a:ext cx="566928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Preprocess like the pretraining did</a:t>
            </a:r>
            <a:endParaRPr lang="en-US" sz="2000" dirty="0"/>
          </a:p>
        </p:txBody>
      </p:sp>
      <p:sp>
        <p:nvSpPr>
          <p:cNvPr id="7" name="Text 5"/>
          <p:cNvSpPr/>
          <p:nvPr/>
        </p:nvSpPr>
        <p:spPr>
          <a:xfrm>
            <a:off x="640080" y="2788920"/>
            <a:ext cx="5669280" cy="457200"/>
          </a:xfrm>
          <a:prstGeom prst="rect">
            <a:avLst/>
          </a:prstGeom>
          <a:noFill/>
          <a:ln/>
        </p:spPr>
        <p:txBody>
          <a:bodyPr wrap="square" lIns="0" tIns="0" rIns="0" bIns="0" rtlCol="0" anchor="ctr"/>
          <a:lstStyle/>
          <a:p>
            <a:pPr indent="0" marL="0">
              <a:buNone/>
            </a:pPr>
            <a:r>
              <a:rPr lang="en-US" sz="1800" b="1" dirty="0">
                <a:solidFill>
                  <a:srgbClr val="E07B39"/>
                </a:solidFill>
                <a:latin typeface="Segoe UI" pitchFamily="34" charset="0"/>
                <a:ea typeface="Segoe UI" pitchFamily="34" charset="-122"/>
                <a:cs typeface="Segoe UI" pitchFamily="34" charset="-120"/>
              </a:rPr>
              <a:t>1 mm isotropic   +   Z-score normalization</a:t>
            </a:r>
            <a:endParaRPr lang="en-US" sz="1800" dirty="0"/>
          </a:p>
        </p:txBody>
      </p:sp>
      <p:sp>
        <p:nvSpPr>
          <p:cNvPr id="8" name="Text 6"/>
          <p:cNvSpPr/>
          <p:nvPr/>
        </p:nvSpPr>
        <p:spPr>
          <a:xfrm>
            <a:off x="640080" y="3429000"/>
            <a:ext cx="5669280" cy="182880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The checkpoint trained on 1 mm isotropic, Z-score volumes</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Preprocess differently and the pretrained features do not line up</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Checkpoint-specific, not a universal nnU-Net rule</a:t>
            </a:r>
            <a:endParaRPr lang="en-US" sz="1400" dirty="0"/>
          </a:p>
        </p:txBody>
      </p:sp>
      <p:sp>
        <p:nvSpPr>
          <p:cNvPr id="9" name="Text 7"/>
          <p:cNvSpPr/>
          <p:nvPr/>
        </p:nvSpPr>
        <p:spPr>
          <a:xfrm>
            <a:off x="7315200" y="2148840"/>
            <a:ext cx="182880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Segoe UI" pitchFamily="34" charset="0"/>
                <a:ea typeface="Segoe UI" pitchFamily="34" charset="-122"/>
                <a:cs typeface="Segoe UI" pitchFamily="34" charset="-120"/>
              </a:rPr>
              <a:t>your spacing</a:t>
            </a:r>
            <a:endParaRPr lang="en-US" sz="1200" dirty="0"/>
          </a:p>
        </p:txBody>
      </p:sp>
      <p:sp>
        <p:nvSpPr>
          <p:cNvPr id="10" name="Shape 8"/>
          <p:cNvSpPr/>
          <p:nvPr/>
        </p:nvSpPr>
        <p:spPr>
          <a:xfrm>
            <a:off x="7315200" y="2468880"/>
            <a:ext cx="1828800" cy="1828800"/>
          </a:xfrm>
          <a:prstGeom prst="roundRect">
            <a:avLst>
              <a:gd name="adj" fmla="val 1000"/>
            </a:avLst>
          </a:prstGeom>
          <a:solidFill>
            <a:srgbClr val="FFFFFF"/>
          </a:solidFill>
          <a:ln w="19050">
            <a:solidFill>
              <a:srgbClr val="9AA9BD"/>
            </a:solidFill>
            <a:prstDash val="solid"/>
          </a:ln>
        </p:spPr>
      </p:sp>
      <p:sp>
        <p:nvSpPr>
          <p:cNvPr id="11" name="Shape 9"/>
          <p:cNvSpPr/>
          <p:nvPr/>
        </p:nvSpPr>
        <p:spPr>
          <a:xfrm>
            <a:off x="7924800" y="2468880"/>
            <a:ext cx="0" cy="1828800"/>
          </a:xfrm>
          <a:prstGeom prst="line">
            <a:avLst/>
          </a:prstGeom>
          <a:noFill/>
          <a:ln w="9525">
            <a:solidFill>
              <a:srgbClr val="9AA9BD"/>
            </a:solidFill>
            <a:prstDash val="solid"/>
          </a:ln>
        </p:spPr>
      </p:sp>
      <p:sp>
        <p:nvSpPr>
          <p:cNvPr id="12" name="Shape 10"/>
          <p:cNvSpPr/>
          <p:nvPr/>
        </p:nvSpPr>
        <p:spPr>
          <a:xfrm>
            <a:off x="7315200" y="3078480"/>
            <a:ext cx="1828800" cy="0"/>
          </a:xfrm>
          <a:prstGeom prst="line">
            <a:avLst/>
          </a:prstGeom>
          <a:noFill/>
          <a:ln w="9525">
            <a:solidFill>
              <a:srgbClr val="9AA9BD"/>
            </a:solidFill>
            <a:prstDash val="solid"/>
          </a:ln>
        </p:spPr>
      </p:sp>
      <p:sp>
        <p:nvSpPr>
          <p:cNvPr id="13" name="Shape 11"/>
          <p:cNvSpPr/>
          <p:nvPr/>
        </p:nvSpPr>
        <p:spPr>
          <a:xfrm>
            <a:off x="8534400" y="2468880"/>
            <a:ext cx="0" cy="1828800"/>
          </a:xfrm>
          <a:prstGeom prst="line">
            <a:avLst/>
          </a:prstGeom>
          <a:noFill/>
          <a:ln w="9525">
            <a:solidFill>
              <a:srgbClr val="9AA9BD"/>
            </a:solidFill>
            <a:prstDash val="solid"/>
          </a:ln>
        </p:spPr>
      </p:sp>
      <p:sp>
        <p:nvSpPr>
          <p:cNvPr id="14" name="Shape 12"/>
          <p:cNvSpPr/>
          <p:nvPr/>
        </p:nvSpPr>
        <p:spPr>
          <a:xfrm>
            <a:off x="7315200" y="3688080"/>
            <a:ext cx="1828800" cy="0"/>
          </a:xfrm>
          <a:prstGeom prst="line">
            <a:avLst/>
          </a:prstGeom>
          <a:noFill/>
          <a:ln w="9525">
            <a:solidFill>
              <a:srgbClr val="9AA9BD"/>
            </a:solidFill>
            <a:prstDash val="solid"/>
          </a:ln>
        </p:spPr>
      </p:sp>
      <p:sp>
        <p:nvSpPr>
          <p:cNvPr id="15" name="Shape 13"/>
          <p:cNvSpPr/>
          <p:nvPr/>
        </p:nvSpPr>
        <p:spPr>
          <a:xfrm>
            <a:off x="9281160" y="3383280"/>
            <a:ext cx="685800" cy="0"/>
          </a:xfrm>
          <a:prstGeom prst="line">
            <a:avLst/>
          </a:prstGeom>
          <a:noFill/>
          <a:ln w="31750">
            <a:solidFill>
              <a:srgbClr val="E07B39"/>
            </a:solidFill>
            <a:prstDash val="solid"/>
            <a:tailEnd type="triangle"/>
          </a:ln>
        </p:spPr>
      </p:sp>
      <p:sp>
        <p:nvSpPr>
          <p:cNvPr id="16" name="Text 14"/>
          <p:cNvSpPr/>
          <p:nvPr/>
        </p:nvSpPr>
        <p:spPr>
          <a:xfrm>
            <a:off x="9692640" y="2148840"/>
            <a:ext cx="182880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Segoe UI" pitchFamily="34" charset="0"/>
                <a:ea typeface="Segoe UI" pitchFamily="34" charset="-122"/>
                <a:cs typeface="Segoe UI" pitchFamily="34" charset="-120"/>
              </a:rPr>
              <a:t>1 mm isotropic</a:t>
            </a:r>
            <a:endParaRPr lang="en-US" sz="1200" dirty="0"/>
          </a:p>
        </p:txBody>
      </p:sp>
      <p:sp>
        <p:nvSpPr>
          <p:cNvPr id="17" name="Shape 15"/>
          <p:cNvSpPr/>
          <p:nvPr/>
        </p:nvSpPr>
        <p:spPr>
          <a:xfrm>
            <a:off x="9692640" y="2468880"/>
            <a:ext cx="1828800" cy="1828800"/>
          </a:xfrm>
          <a:prstGeom prst="roundRect">
            <a:avLst>
              <a:gd name="adj" fmla="val 1000"/>
            </a:avLst>
          </a:prstGeom>
          <a:solidFill>
            <a:srgbClr val="FFFFFF"/>
          </a:solidFill>
          <a:ln w="19050">
            <a:solidFill>
              <a:srgbClr val="5D7290"/>
            </a:solidFill>
            <a:prstDash val="solid"/>
          </a:ln>
        </p:spPr>
      </p:sp>
      <p:sp>
        <p:nvSpPr>
          <p:cNvPr id="18" name="Shape 16"/>
          <p:cNvSpPr/>
          <p:nvPr/>
        </p:nvSpPr>
        <p:spPr>
          <a:xfrm>
            <a:off x="9997440" y="2468880"/>
            <a:ext cx="0" cy="1828800"/>
          </a:xfrm>
          <a:prstGeom prst="line">
            <a:avLst/>
          </a:prstGeom>
          <a:noFill/>
          <a:ln w="9525">
            <a:solidFill>
              <a:srgbClr val="5D7290"/>
            </a:solidFill>
            <a:prstDash val="solid"/>
          </a:ln>
        </p:spPr>
      </p:sp>
      <p:sp>
        <p:nvSpPr>
          <p:cNvPr id="19" name="Shape 17"/>
          <p:cNvSpPr/>
          <p:nvPr/>
        </p:nvSpPr>
        <p:spPr>
          <a:xfrm>
            <a:off x="9692640" y="2773680"/>
            <a:ext cx="1828800" cy="0"/>
          </a:xfrm>
          <a:prstGeom prst="line">
            <a:avLst/>
          </a:prstGeom>
          <a:noFill/>
          <a:ln w="9525">
            <a:solidFill>
              <a:srgbClr val="5D7290"/>
            </a:solidFill>
            <a:prstDash val="solid"/>
          </a:ln>
        </p:spPr>
      </p:sp>
      <p:sp>
        <p:nvSpPr>
          <p:cNvPr id="20" name="Shape 18"/>
          <p:cNvSpPr/>
          <p:nvPr/>
        </p:nvSpPr>
        <p:spPr>
          <a:xfrm>
            <a:off x="10302240" y="2468880"/>
            <a:ext cx="0" cy="1828800"/>
          </a:xfrm>
          <a:prstGeom prst="line">
            <a:avLst/>
          </a:prstGeom>
          <a:noFill/>
          <a:ln w="9525">
            <a:solidFill>
              <a:srgbClr val="5D7290"/>
            </a:solidFill>
            <a:prstDash val="solid"/>
          </a:ln>
        </p:spPr>
      </p:sp>
      <p:sp>
        <p:nvSpPr>
          <p:cNvPr id="21" name="Shape 19"/>
          <p:cNvSpPr/>
          <p:nvPr/>
        </p:nvSpPr>
        <p:spPr>
          <a:xfrm>
            <a:off x="9692640" y="3078480"/>
            <a:ext cx="1828800" cy="0"/>
          </a:xfrm>
          <a:prstGeom prst="line">
            <a:avLst/>
          </a:prstGeom>
          <a:noFill/>
          <a:ln w="9525">
            <a:solidFill>
              <a:srgbClr val="5D7290"/>
            </a:solidFill>
            <a:prstDash val="solid"/>
          </a:ln>
        </p:spPr>
      </p:sp>
      <p:sp>
        <p:nvSpPr>
          <p:cNvPr id="22" name="Shape 20"/>
          <p:cNvSpPr/>
          <p:nvPr/>
        </p:nvSpPr>
        <p:spPr>
          <a:xfrm>
            <a:off x="10607040" y="2468880"/>
            <a:ext cx="0" cy="1828800"/>
          </a:xfrm>
          <a:prstGeom prst="line">
            <a:avLst/>
          </a:prstGeom>
          <a:noFill/>
          <a:ln w="9525">
            <a:solidFill>
              <a:srgbClr val="5D7290"/>
            </a:solidFill>
            <a:prstDash val="solid"/>
          </a:ln>
        </p:spPr>
      </p:sp>
      <p:sp>
        <p:nvSpPr>
          <p:cNvPr id="23" name="Shape 21"/>
          <p:cNvSpPr/>
          <p:nvPr/>
        </p:nvSpPr>
        <p:spPr>
          <a:xfrm>
            <a:off x="9692640" y="3383280"/>
            <a:ext cx="1828800" cy="0"/>
          </a:xfrm>
          <a:prstGeom prst="line">
            <a:avLst/>
          </a:prstGeom>
          <a:noFill/>
          <a:ln w="9525">
            <a:solidFill>
              <a:srgbClr val="5D7290"/>
            </a:solidFill>
            <a:prstDash val="solid"/>
          </a:ln>
        </p:spPr>
      </p:sp>
      <p:sp>
        <p:nvSpPr>
          <p:cNvPr id="24" name="Shape 22"/>
          <p:cNvSpPr/>
          <p:nvPr/>
        </p:nvSpPr>
        <p:spPr>
          <a:xfrm>
            <a:off x="10911840" y="2468880"/>
            <a:ext cx="0" cy="1828800"/>
          </a:xfrm>
          <a:prstGeom prst="line">
            <a:avLst/>
          </a:prstGeom>
          <a:noFill/>
          <a:ln w="9525">
            <a:solidFill>
              <a:srgbClr val="5D7290"/>
            </a:solidFill>
            <a:prstDash val="solid"/>
          </a:ln>
        </p:spPr>
      </p:sp>
      <p:sp>
        <p:nvSpPr>
          <p:cNvPr id="25" name="Shape 23"/>
          <p:cNvSpPr/>
          <p:nvPr/>
        </p:nvSpPr>
        <p:spPr>
          <a:xfrm>
            <a:off x="9692640" y="3688080"/>
            <a:ext cx="1828800" cy="0"/>
          </a:xfrm>
          <a:prstGeom prst="line">
            <a:avLst/>
          </a:prstGeom>
          <a:noFill/>
          <a:ln w="9525">
            <a:solidFill>
              <a:srgbClr val="5D7290"/>
            </a:solidFill>
            <a:prstDash val="solid"/>
          </a:ln>
        </p:spPr>
      </p:sp>
      <p:sp>
        <p:nvSpPr>
          <p:cNvPr id="26" name="Shape 24"/>
          <p:cNvSpPr/>
          <p:nvPr/>
        </p:nvSpPr>
        <p:spPr>
          <a:xfrm>
            <a:off x="11216640" y="2468880"/>
            <a:ext cx="0" cy="1828800"/>
          </a:xfrm>
          <a:prstGeom prst="line">
            <a:avLst/>
          </a:prstGeom>
          <a:noFill/>
          <a:ln w="9525">
            <a:solidFill>
              <a:srgbClr val="5D7290"/>
            </a:solidFill>
            <a:prstDash val="solid"/>
          </a:ln>
        </p:spPr>
      </p:sp>
      <p:sp>
        <p:nvSpPr>
          <p:cNvPr id="27" name="Shape 25"/>
          <p:cNvSpPr/>
          <p:nvPr/>
        </p:nvSpPr>
        <p:spPr>
          <a:xfrm>
            <a:off x="9692640" y="3992880"/>
            <a:ext cx="1828800" cy="0"/>
          </a:xfrm>
          <a:prstGeom prst="line">
            <a:avLst/>
          </a:prstGeom>
          <a:noFill/>
          <a:ln w="9525">
            <a:solidFill>
              <a:srgbClr val="5D7290"/>
            </a:solidFill>
            <a:prstDash val="solid"/>
          </a:ln>
        </p:spPr>
      </p:sp>
      <p:sp>
        <p:nvSpPr>
          <p:cNvPr id="28" name="Text 26"/>
          <p:cNvSpPr/>
          <p:nvPr/>
        </p:nvSpPr>
        <p:spPr>
          <a:xfrm>
            <a:off x="7223760" y="4572000"/>
            <a:ext cx="429768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resample so voxels match the checkpoint</a:t>
            </a:r>
            <a:endParaRPr lang="en-US" sz="1100" dirty="0"/>
          </a:p>
        </p:txBody>
      </p:sp>
      <p:sp>
        <p:nvSpPr>
          <p:cNvPr id="29" name="Text 27"/>
          <p:cNvSpPr/>
          <p:nvPr/>
        </p:nvSpPr>
        <p:spPr>
          <a:xfrm>
            <a:off x="640080" y="5440680"/>
            <a:ext cx="10607040" cy="365760"/>
          </a:xfrm>
          <a:prstGeom prst="rect">
            <a:avLst/>
          </a:prstGeom>
          <a:noFill/>
          <a:ln/>
        </p:spPr>
        <p:txBody>
          <a:bodyPr wrap="square" lIns="0" tIns="0" rIns="0" bIns="0" rtlCol="0" anchor="ctr"/>
          <a:lstStyle/>
          <a:p>
            <a:pPr indent="0" marL="0">
              <a:buNone/>
            </a:pPr>
            <a:r>
              <a:rPr lang="en-US" sz="1400" i="1" dirty="0">
                <a:solidFill>
                  <a:srgbClr val="6B7280"/>
                </a:solidFill>
                <a:latin typeface="Segoe UI" pitchFamily="34" charset="0"/>
                <a:ea typeface="Segoe UI" pitchFamily="34" charset="-122"/>
                <a:cs typeface="Segoe UI" pitchFamily="34" charset="-120"/>
              </a:rPr>
              <a:t>Why these two? The next two slides.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DATA PREPARATION  ·  NOTEBOOK 01</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Why 1 mm isotropic</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12</a:t>
            </a:r>
            <a:endParaRPr lang="en-US" sz="900" dirty="0"/>
          </a:p>
        </p:txBody>
      </p:sp>
      <p:sp>
        <p:nvSpPr>
          <p:cNvPr id="6" name="Text 4"/>
          <p:cNvSpPr/>
          <p:nvPr/>
        </p:nvSpPr>
        <p:spPr>
          <a:xfrm>
            <a:off x="640080" y="2011680"/>
            <a:ext cx="566928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Filters expect a fixed physical scale</a:t>
            </a:r>
            <a:endParaRPr lang="en-US" sz="2000" dirty="0"/>
          </a:p>
        </p:txBody>
      </p:sp>
      <p:sp>
        <p:nvSpPr>
          <p:cNvPr id="7" name="Text 5"/>
          <p:cNvSpPr/>
          <p:nvPr/>
        </p:nvSpPr>
        <p:spPr>
          <a:xfrm>
            <a:off x="640080" y="2880360"/>
            <a:ext cx="5669280" cy="25603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The encoder's 3D conv filters learned anatomy at 1 mm per voxel</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At a different spacing, the same structure spans a different number of voxels, so the filters fire at the wrong scale</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Isotropic means equal spacing on all three axes, matching how the pretraining sampled 3D context</a:t>
            </a:r>
            <a:endParaRPr lang="en-US" sz="1400" dirty="0"/>
          </a:p>
          <a:p>
            <a:pPr marL="203200" indent="-203200">
              <a:spcAft>
                <a:spcPts val="1000"/>
              </a:spcAft>
              <a:buSzPct val="100000"/>
              <a:buChar char="•"/>
            </a:pPr>
            <a:r>
              <a:rPr lang="en-US" sz="1400" dirty="0">
                <a:solidFill>
                  <a:srgbClr val="C0392B"/>
                </a:solidFill>
                <a:latin typeface="Segoe UI" pitchFamily="34" charset="0"/>
                <a:ea typeface="Segoe UI" pitchFamily="34" charset="-122"/>
                <a:cs typeface="Segoe UI" pitchFamily="34" charset="-120"/>
              </a:rPr>
              <a:t>Cost: forcing 1 mm can heavily upsample thick-slice scans (compute and memory) and is not ideal for very anisotropic data</a:t>
            </a:r>
            <a:endParaRPr lang="en-US" sz="1400" dirty="0"/>
          </a:p>
        </p:txBody>
      </p:sp>
      <p:sp>
        <p:nvSpPr>
          <p:cNvPr id="8" name="Text 6"/>
          <p:cNvSpPr/>
          <p:nvPr/>
        </p:nvSpPr>
        <p:spPr>
          <a:xfrm>
            <a:off x="7040880" y="2194560"/>
            <a:ext cx="192024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Segoe UI" pitchFamily="34" charset="0"/>
                <a:ea typeface="Segoe UI" pitchFamily="34" charset="-122"/>
                <a:cs typeface="Segoe UI" pitchFamily="34" charset="-120"/>
              </a:rPr>
              <a:t>coarse spacing</a:t>
            </a:r>
            <a:endParaRPr lang="en-US" sz="1200" dirty="0"/>
          </a:p>
        </p:txBody>
      </p:sp>
      <p:sp>
        <p:nvSpPr>
          <p:cNvPr id="9" name="Shape 7"/>
          <p:cNvSpPr/>
          <p:nvPr/>
        </p:nvSpPr>
        <p:spPr>
          <a:xfrm>
            <a:off x="7040880" y="2514600"/>
            <a:ext cx="1920240" cy="1920240"/>
          </a:xfrm>
          <a:prstGeom prst="roundRect">
            <a:avLst>
              <a:gd name="adj" fmla="val 952"/>
            </a:avLst>
          </a:prstGeom>
          <a:solidFill>
            <a:srgbClr val="FFFFFF"/>
          </a:solidFill>
          <a:ln w="19050">
            <a:solidFill>
              <a:srgbClr val="9AA9BD"/>
            </a:solidFill>
            <a:prstDash val="solid"/>
          </a:ln>
        </p:spPr>
      </p:sp>
      <p:sp>
        <p:nvSpPr>
          <p:cNvPr id="10" name="Shape 8"/>
          <p:cNvSpPr/>
          <p:nvPr/>
        </p:nvSpPr>
        <p:spPr>
          <a:xfrm>
            <a:off x="7680960" y="2514600"/>
            <a:ext cx="0" cy="1920240"/>
          </a:xfrm>
          <a:prstGeom prst="line">
            <a:avLst/>
          </a:prstGeom>
          <a:noFill/>
          <a:ln w="9525">
            <a:solidFill>
              <a:srgbClr val="9AA9BD"/>
            </a:solidFill>
            <a:prstDash val="solid"/>
          </a:ln>
        </p:spPr>
      </p:sp>
      <p:sp>
        <p:nvSpPr>
          <p:cNvPr id="11" name="Shape 9"/>
          <p:cNvSpPr/>
          <p:nvPr/>
        </p:nvSpPr>
        <p:spPr>
          <a:xfrm>
            <a:off x="7040880" y="3154680"/>
            <a:ext cx="1920240" cy="0"/>
          </a:xfrm>
          <a:prstGeom prst="line">
            <a:avLst/>
          </a:prstGeom>
          <a:noFill/>
          <a:ln w="9525">
            <a:solidFill>
              <a:srgbClr val="9AA9BD"/>
            </a:solidFill>
            <a:prstDash val="solid"/>
          </a:ln>
        </p:spPr>
      </p:sp>
      <p:sp>
        <p:nvSpPr>
          <p:cNvPr id="12" name="Shape 10"/>
          <p:cNvSpPr/>
          <p:nvPr/>
        </p:nvSpPr>
        <p:spPr>
          <a:xfrm>
            <a:off x="8321040" y="2514600"/>
            <a:ext cx="0" cy="1920240"/>
          </a:xfrm>
          <a:prstGeom prst="line">
            <a:avLst/>
          </a:prstGeom>
          <a:noFill/>
          <a:ln w="9525">
            <a:solidFill>
              <a:srgbClr val="9AA9BD"/>
            </a:solidFill>
            <a:prstDash val="solid"/>
          </a:ln>
        </p:spPr>
      </p:sp>
      <p:sp>
        <p:nvSpPr>
          <p:cNvPr id="13" name="Shape 11"/>
          <p:cNvSpPr/>
          <p:nvPr/>
        </p:nvSpPr>
        <p:spPr>
          <a:xfrm>
            <a:off x="7040880" y="3794760"/>
            <a:ext cx="1920240" cy="0"/>
          </a:xfrm>
          <a:prstGeom prst="line">
            <a:avLst/>
          </a:prstGeom>
          <a:noFill/>
          <a:ln w="9525">
            <a:solidFill>
              <a:srgbClr val="9AA9BD"/>
            </a:solidFill>
            <a:prstDash val="solid"/>
          </a:ln>
        </p:spPr>
      </p:sp>
      <p:sp>
        <p:nvSpPr>
          <p:cNvPr id="14" name="Shape 12"/>
          <p:cNvSpPr/>
          <p:nvPr/>
        </p:nvSpPr>
        <p:spPr>
          <a:xfrm>
            <a:off x="7680960" y="3154680"/>
            <a:ext cx="640080" cy="640080"/>
          </a:xfrm>
          <a:prstGeom prst="ellipse">
            <a:avLst/>
          </a:prstGeom>
          <a:solidFill>
            <a:srgbClr val="E07B39"/>
          </a:solidFill>
          <a:ln/>
        </p:spPr>
      </p:sp>
      <p:sp>
        <p:nvSpPr>
          <p:cNvPr id="15" name="Shape 13"/>
          <p:cNvSpPr/>
          <p:nvPr/>
        </p:nvSpPr>
        <p:spPr>
          <a:xfrm>
            <a:off x="9098280" y="3474720"/>
            <a:ext cx="548640" cy="0"/>
          </a:xfrm>
          <a:prstGeom prst="line">
            <a:avLst/>
          </a:prstGeom>
          <a:noFill/>
          <a:ln w="31750">
            <a:solidFill>
              <a:srgbClr val="E07B39"/>
            </a:solidFill>
            <a:prstDash val="solid"/>
            <a:tailEnd type="triangle"/>
          </a:ln>
        </p:spPr>
      </p:sp>
      <p:sp>
        <p:nvSpPr>
          <p:cNvPr id="16" name="Text 14"/>
          <p:cNvSpPr/>
          <p:nvPr/>
        </p:nvSpPr>
        <p:spPr>
          <a:xfrm>
            <a:off x="9555480" y="2194560"/>
            <a:ext cx="192024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Segoe UI" pitchFamily="34" charset="0"/>
                <a:ea typeface="Segoe UI" pitchFamily="34" charset="-122"/>
                <a:cs typeface="Segoe UI" pitchFamily="34" charset="-120"/>
              </a:rPr>
              <a:t>1 mm isotropic</a:t>
            </a:r>
            <a:endParaRPr lang="en-US" sz="1200" dirty="0"/>
          </a:p>
        </p:txBody>
      </p:sp>
      <p:sp>
        <p:nvSpPr>
          <p:cNvPr id="17" name="Shape 15"/>
          <p:cNvSpPr/>
          <p:nvPr/>
        </p:nvSpPr>
        <p:spPr>
          <a:xfrm>
            <a:off x="9555480" y="2514600"/>
            <a:ext cx="1920240" cy="1920240"/>
          </a:xfrm>
          <a:prstGeom prst="roundRect">
            <a:avLst>
              <a:gd name="adj" fmla="val 952"/>
            </a:avLst>
          </a:prstGeom>
          <a:solidFill>
            <a:srgbClr val="FFFFFF"/>
          </a:solidFill>
          <a:ln w="19050">
            <a:solidFill>
              <a:srgbClr val="5D7290"/>
            </a:solidFill>
            <a:prstDash val="solid"/>
          </a:ln>
        </p:spPr>
      </p:sp>
      <p:sp>
        <p:nvSpPr>
          <p:cNvPr id="18" name="Shape 16"/>
          <p:cNvSpPr/>
          <p:nvPr/>
        </p:nvSpPr>
        <p:spPr>
          <a:xfrm>
            <a:off x="9875520" y="2514600"/>
            <a:ext cx="0" cy="1920240"/>
          </a:xfrm>
          <a:prstGeom prst="line">
            <a:avLst/>
          </a:prstGeom>
          <a:noFill/>
          <a:ln w="9525">
            <a:solidFill>
              <a:srgbClr val="5D7290"/>
            </a:solidFill>
            <a:prstDash val="solid"/>
          </a:ln>
        </p:spPr>
      </p:sp>
      <p:sp>
        <p:nvSpPr>
          <p:cNvPr id="19" name="Shape 17"/>
          <p:cNvSpPr/>
          <p:nvPr/>
        </p:nvSpPr>
        <p:spPr>
          <a:xfrm>
            <a:off x="9555480" y="2834640"/>
            <a:ext cx="1920240" cy="0"/>
          </a:xfrm>
          <a:prstGeom prst="line">
            <a:avLst/>
          </a:prstGeom>
          <a:noFill/>
          <a:ln w="9525">
            <a:solidFill>
              <a:srgbClr val="5D7290"/>
            </a:solidFill>
            <a:prstDash val="solid"/>
          </a:ln>
        </p:spPr>
      </p:sp>
      <p:sp>
        <p:nvSpPr>
          <p:cNvPr id="20" name="Shape 18"/>
          <p:cNvSpPr/>
          <p:nvPr/>
        </p:nvSpPr>
        <p:spPr>
          <a:xfrm>
            <a:off x="10195560" y="2514600"/>
            <a:ext cx="0" cy="1920240"/>
          </a:xfrm>
          <a:prstGeom prst="line">
            <a:avLst/>
          </a:prstGeom>
          <a:noFill/>
          <a:ln w="9525">
            <a:solidFill>
              <a:srgbClr val="5D7290"/>
            </a:solidFill>
            <a:prstDash val="solid"/>
          </a:ln>
        </p:spPr>
      </p:sp>
      <p:sp>
        <p:nvSpPr>
          <p:cNvPr id="21" name="Shape 19"/>
          <p:cNvSpPr/>
          <p:nvPr/>
        </p:nvSpPr>
        <p:spPr>
          <a:xfrm>
            <a:off x="9555480" y="3154680"/>
            <a:ext cx="1920240" cy="0"/>
          </a:xfrm>
          <a:prstGeom prst="line">
            <a:avLst/>
          </a:prstGeom>
          <a:noFill/>
          <a:ln w="9525">
            <a:solidFill>
              <a:srgbClr val="5D7290"/>
            </a:solidFill>
            <a:prstDash val="solid"/>
          </a:ln>
        </p:spPr>
      </p:sp>
      <p:sp>
        <p:nvSpPr>
          <p:cNvPr id="22" name="Shape 20"/>
          <p:cNvSpPr/>
          <p:nvPr/>
        </p:nvSpPr>
        <p:spPr>
          <a:xfrm>
            <a:off x="10515600" y="2514600"/>
            <a:ext cx="0" cy="1920240"/>
          </a:xfrm>
          <a:prstGeom prst="line">
            <a:avLst/>
          </a:prstGeom>
          <a:noFill/>
          <a:ln w="9525">
            <a:solidFill>
              <a:srgbClr val="5D7290"/>
            </a:solidFill>
            <a:prstDash val="solid"/>
          </a:ln>
        </p:spPr>
      </p:sp>
      <p:sp>
        <p:nvSpPr>
          <p:cNvPr id="23" name="Shape 21"/>
          <p:cNvSpPr/>
          <p:nvPr/>
        </p:nvSpPr>
        <p:spPr>
          <a:xfrm>
            <a:off x="9555480" y="3474720"/>
            <a:ext cx="1920240" cy="0"/>
          </a:xfrm>
          <a:prstGeom prst="line">
            <a:avLst/>
          </a:prstGeom>
          <a:noFill/>
          <a:ln w="9525">
            <a:solidFill>
              <a:srgbClr val="5D7290"/>
            </a:solidFill>
            <a:prstDash val="solid"/>
          </a:ln>
        </p:spPr>
      </p:sp>
      <p:sp>
        <p:nvSpPr>
          <p:cNvPr id="24" name="Shape 22"/>
          <p:cNvSpPr/>
          <p:nvPr/>
        </p:nvSpPr>
        <p:spPr>
          <a:xfrm>
            <a:off x="10835640" y="2514600"/>
            <a:ext cx="0" cy="1920240"/>
          </a:xfrm>
          <a:prstGeom prst="line">
            <a:avLst/>
          </a:prstGeom>
          <a:noFill/>
          <a:ln w="9525">
            <a:solidFill>
              <a:srgbClr val="5D7290"/>
            </a:solidFill>
            <a:prstDash val="solid"/>
          </a:ln>
        </p:spPr>
      </p:sp>
      <p:sp>
        <p:nvSpPr>
          <p:cNvPr id="25" name="Shape 23"/>
          <p:cNvSpPr/>
          <p:nvPr/>
        </p:nvSpPr>
        <p:spPr>
          <a:xfrm>
            <a:off x="9555480" y="3794760"/>
            <a:ext cx="1920240" cy="0"/>
          </a:xfrm>
          <a:prstGeom prst="line">
            <a:avLst/>
          </a:prstGeom>
          <a:noFill/>
          <a:ln w="9525">
            <a:solidFill>
              <a:srgbClr val="5D7290"/>
            </a:solidFill>
            <a:prstDash val="solid"/>
          </a:ln>
        </p:spPr>
      </p:sp>
      <p:sp>
        <p:nvSpPr>
          <p:cNvPr id="26" name="Shape 24"/>
          <p:cNvSpPr/>
          <p:nvPr/>
        </p:nvSpPr>
        <p:spPr>
          <a:xfrm>
            <a:off x="11155680" y="2514600"/>
            <a:ext cx="0" cy="1920240"/>
          </a:xfrm>
          <a:prstGeom prst="line">
            <a:avLst/>
          </a:prstGeom>
          <a:noFill/>
          <a:ln w="9525">
            <a:solidFill>
              <a:srgbClr val="5D7290"/>
            </a:solidFill>
            <a:prstDash val="solid"/>
          </a:ln>
        </p:spPr>
      </p:sp>
      <p:sp>
        <p:nvSpPr>
          <p:cNvPr id="27" name="Shape 25"/>
          <p:cNvSpPr/>
          <p:nvPr/>
        </p:nvSpPr>
        <p:spPr>
          <a:xfrm>
            <a:off x="9555480" y="4114800"/>
            <a:ext cx="1920240" cy="0"/>
          </a:xfrm>
          <a:prstGeom prst="line">
            <a:avLst/>
          </a:prstGeom>
          <a:noFill/>
          <a:ln w="9525">
            <a:solidFill>
              <a:srgbClr val="5D7290"/>
            </a:solidFill>
            <a:prstDash val="solid"/>
          </a:ln>
        </p:spPr>
      </p:sp>
      <p:sp>
        <p:nvSpPr>
          <p:cNvPr id="28" name="Shape 26"/>
          <p:cNvSpPr/>
          <p:nvPr/>
        </p:nvSpPr>
        <p:spPr>
          <a:xfrm>
            <a:off x="10195560" y="3154680"/>
            <a:ext cx="640080" cy="640080"/>
          </a:xfrm>
          <a:prstGeom prst="ellipse">
            <a:avLst/>
          </a:prstGeom>
          <a:solidFill>
            <a:srgbClr val="E07B39"/>
          </a:solidFill>
          <a:ln/>
        </p:spPr>
      </p:sp>
      <p:sp>
        <p:nvSpPr>
          <p:cNvPr id="29" name="Text 27"/>
          <p:cNvSpPr/>
          <p:nvPr/>
        </p:nvSpPr>
        <p:spPr>
          <a:xfrm>
            <a:off x="6949440" y="4617720"/>
            <a:ext cx="45720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same structure, more voxels: the filters see the scale they trained 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DATA PREPARATION  ·  NOTEBOOK 01</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Why Z-score normalization</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13</a:t>
            </a:r>
            <a:endParaRPr lang="en-US" sz="900" dirty="0"/>
          </a:p>
        </p:txBody>
      </p:sp>
      <p:sp>
        <p:nvSpPr>
          <p:cNvPr id="6" name="Text 4"/>
          <p:cNvSpPr/>
          <p:nvPr/>
        </p:nvSpPr>
        <p:spPr>
          <a:xfrm>
            <a:off x="640080" y="2011680"/>
            <a:ext cx="566928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Weights expect a fixed intensity distribution</a:t>
            </a:r>
            <a:endParaRPr lang="en-US" sz="2000" dirty="0"/>
          </a:p>
        </p:txBody>
      </p:sp>
      <p:sp>
        <p:nvSpPr>
          <p:cNvPr id="7" name="Text 5"/>
          <p:cNvSpPr/>
          <p:nvPr/>
        </p:nvSpPr>
        <p:spPr>
          <a:xfrm>
            <a:off x="640080" y="2880360"/>
            <a:ext cx="5669280" cy="25603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The network trained on inputs at roughly zero mean, unit variance</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Its early-layer weights assume that input distribution</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Feed raw HU or a different scaling and every activation shifts, pushing features outside the learned regime</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Z-score reproduces the pretraining's intensity statistics</a:t>
            </a:r>
            <a:endParaRPr lang="en-US" sz="1400" dirty="0"/>
          </a:p>
        </p:txBody>
      </p:sp>
      <p:sp>
        <p:nvSpPr>
          <p:cNvPr id="8" name="Shape 6"/>
          <p:cNvSpPr/>
          <p:nvPr/>
        </p:nvSpPr>
        <p:spPr>
          <a:xfrm>
            <a:off x="7040880" y="2514600"/>
            <a:ext cx="2011680" cy="1188720"/>
          </a:xfrm>
          <a:prstGeom prst="roundRect">
            <a:avLst>
              <a:gd name="adj" fmla="val 6154"/>
            </a:avLst>
          </a:prstGeom>
          <a:solidFill>
            <a:srgbClr val="F4F6F8"/>
          </a:solidFill>
          <a:ln w="12700">
            <a:solidFill>
              <a:srgbClr val="DDE3EA"/>
            </a:solidFill>
            <a:prstDash val="solid"/>
          </a:ln>
        </p:spPr>
      </p:sp>
      <p:sp>
        <p:nvSpPr>
          <p:cNvPr id="9" name="Text 7"/>
          <p:cNvSpPr/>
          <p:nvPr/>
        </p:nvSpPr>
        <p:spPr>
          <a:xfrm>
            <a:off x="7040880" y="2514600"/>
            <a:ext cx="2011680" cy="1188720"/>
          </a:xfrm>
          <a:prstGeom prst="rect">
            <a:avLst/>
          </a:prstGeom>
          <a:noFill/>
          <a:ln/>
        </p:spPr>
        <p:txBody>
          <a:bodyPr wrap="square" lIns="76200" tIns="76200" rIns="76200" bIns="76200" rtlCol="0" anchor="ctr"/>
          <a:lstStyle/>
          <a:p>
            <a:pPr algn="ctr" indent="0" marL="0">
              <a:buNone/>
            </a:pPr>
            <a:r>
              <a:rPr lang="en-US" sz="1200" dirty="0">
                <a:solidFill>
                  <a:srgbClr val="1F2933"/>
                </a:solidFill>
                <a:latin typeface="Segoe UI" pitchFamily="34" charset="0"/>
                <a:ea typeface="Segoe UI" pitchFamily="34" charset="-122"/>
                <a:cs typeface="Segoe UI" pitchFamily="34" charset="-120"/>
              </a:rPr>
              <a:t>raw intensities</a:t>
            </a:r>
            <a:endParaRPr lang="en-US" sz="1200" dirty="0"/>
          </a:p>
          <a:p>
            <a:pPr algn="ctr" indent="0" marL="0">
              <a:buNone/>
            </a:pPr>
            <a:r>
              <a:rPr lang="en-US" sz="1200" dirty="0">
                <a:solidFill>
                  <a:srgbClr val="1F2933"/>
                </a:solidFill>
                <a:latin typeface="Segoe UI" pitchFamily="34" charset="0"/>
                <a:ea typeface="Segoe UI" pitchFamily="34" charset="-122"/>
                <a:cs typeface="Segoe UI" pitchFamily="34" charset="-120"/>
              </a:rPr>
              <a:t>mean and scale vary</a:t>
            </a:r>
            <a:endParaRPr lang="en-US" sz="1200" dirty="0"/>
          </a:p>
          <a:p>
            <a:pPr algn="ctr" indent="0" marL="0">
              <a:buNone/>
            </a:pPr>
            <a:r>
              <a:rPr lang="en-US" sz="1200" dirty="0">
                <a:solidFill>
                  <a:srgbClr val="1F2933"/>
                </a:solidFill>
                <a:latin typeface="Segoe UI" pitchFamily="34" charset="0"/>
                <a:ea typeface="Segoe UI" pitchFamily="34" charset="-122"/>
                <a:cs typeface="Segoe UI" pitchFamily="34" charset="-120"/>
              </a:rPr>
              <a:t>(scanner, protocol)</a:t>
            </a:r>
            <a:endParaRPr lang="en-US" sz="1200" dirty="0"/>
          </a:p>
        </p:txBody>
      </p:sp>
      <p:sp>
        <p:nvSpPr>
          <p:cNvPr id="10" name="Shape 8"/>
          <p:cNvSpPr/>
          <p:nvPr/>
        </p:nvSpPr>
        <p:spPr>
          <a:xfrm>
            <a:off x="9098280" y="3108960"/>
            <a:ext cx="548640" cy="0"/>
          </a:xfrm>
          <a:prstGeom prst="line">
            <a:avLst/>
          </a:prstGeom>
          <a:noFill/>
          <a:ln w="31750">
            <a:solidFill>
              <a:srgbClr val="E07B39"/>
            </a:solidFill>
            <a:prstDash val="solid"/>
            <a:tailEnd type="triangle"/>
          </a:ln>
        </p:spPr>
      </p:sp>
      <p:sp>
        <p:nvSpPr>
          <p:cNvPr id="11" name="Shape 9"/>
          <p:cNvSpPr/>
          <p:nvPr/>
        </p:nvSpPr>
        <p:spPr>
          <a:xfrm>
            <a:off x="9555480" y="2514600"/>
            <a:ext cx="2011680" cy="1188720"/>
          </a:xfrm>
          <a:prstGeom prst="roundRect">
            <a:avLst>
              <a:gd name="adj" fmla="val 6154"/>
            </a:avLst>
          </a:prstGeom>
          <a:solidFill>
            <a:srgbClr val="FFFFFF"/>
          </a:solidFill>
          <a:ln w="19050">
            <a:solidFill>
              <a:srgbClr val="E07B39"/>
            </a:solidFill>
            <a:prstDash val="solid"/>
          </a:ln>
        </p:spPr>
      </p:sp>
      <p:sp>
        <p:nvSpPr>
          <p:cNvPr id="12" name="Text 10"/>
          <p:cNvSpPr/>
          <p:nvPr/>
        </p:nvSpPr>
        <p:spPr>
          <a:xfrm>
            <a:off x="9555480" y="2514600"/>
            <a:ext cx="2011680" cy="1188720"/>
          </a:xfrm>
          <a:prstGeom prst="rect">
            <a:avLst/>
          </a:prstGeom>
          <a:noFill/>
          <a:ln/>
        </p:spPr>
        <p:txBody>
          <a:bodyPr wrap="square" lIns="76200" tIns="76200" rIns="76200" bIns="76200" rtlCol="0" anchor="ctr"/>
          <a:lstStyle/>
          <a:p>
            <a:pPr algn="ctr" indent="0" marL="0">
              <a:buNone/>
            </a:pPr>
            <a:r>
              <a:rPr lang="en-US" sz="1200" dirty="0">
                <a:solidFill>
                  <a:srgbClr val="1F2933"/>
                </a:solidFill>
                <a:latin typeface="Segoe UI" pitchFamily="34" charset="0"/>
                <a:ea typeface="Segoe UI" pitchFamily="34" charset="-122"/>
                <a:cs typeface="Segoe UI" pitchFamily="34" charset="-120"/>
              </a:rPr>
              <a:t>Z-scored</a:t>
            </a:r>
            <a:endParaRPr lang="en-US" sz="1200" dirty="0"/>
          </a:p>
          <a:p>
            <a:pPr algn="ctr" indent="0" marL="0">
              <a:buNone/>
            </a:pPr>
            <a:r>
              <a:rPr lang="en-US" sz="1200" dirty="0">
                <a:solidFill>
                  <a:srgbClr val="1F2933"/>
                </a:solidFill>
                <a:latin typeface="Segoe UI" pitchFamily="34" charset="0"/>
                <a:ea typeface="Segoe UI" pitchFamily="34" charset="-122"/>
                <a:cs typeface="Segoe UI" pitchFamily="34" charset="-120"/>
              </a:rPr>
              <a:t>mean 0, std 1</a:t>
            </a:r>
            <a:endParaRPr lang="en-US" sz="1200" dirty="0"/>
          </a:p>
          <a:p>
            <a:pPr algn="ctr" indent="0" marL="0">
              <a:buNone/>
            </a:pPr>
            <a:r>
              <a:rPr lang="en-US" sz="1200" dirty="0">
                <a:solidFill>
                  <a:srgbClr val="1F2933"/>
                </a:solidFill>
                <a:latin typeface="Segoe UI" pitchFamily="34" charset="0"/>
                <a:ea typeface="Segoe UI" pitchFamily="34" charset="-122"/>
                <a:cs typeface="Segoe UI" pitchFamily="34" charset="-120"/>
              </a:rPr>
              <a:t>(matches pretraining)</a:t>
            </a:r>
            <a:endParaRPr lang="en-US" sz="1200" dirty="0"/>
          </a:p>
        </p:txBody>
      </p:sp>
      <p:sp>
        <p:nvSpPr>
          <p:cNvPr id="13" name="Shape 11"/>
          <p:cNvSpPr/>
          <p:nvPr/>
        </p:nvSpPr>
        <p:spPr>
          <a:xfrm>
            <a:off x="7040880" y="4069080"/>
            <a:ext cx="4526280" cy="594360"/>
          </a:xfrm>
          <a:prstGeom prst="roundRect">
            <a:avLst>
              <a:gd name="adj" fmla="val 9231"/>
            </a:avLst>
          </a:prstGeom>
          <a:solidFill>
            <a:srgbClr val="F4F6F8"/>
          </a:solidFill>
          <a:ln w="12700">
            <a:solidFill>
              <a:srgbClr val="DDE3EA"/>
            </a:solidFill>
            <a:prstDash val="solid"/>
          </a:ln>
        </p:spPr>
      </p:sp>
      <p:sp>
        <p:nvSpPr>
          <p:cNvPr id="14" name="Text 12"/>
          <p:cNvSpPr/>
          <p:nvPr/>
        </p:nvSpPr>
        <p:spPr>
          <a:xfrm>
            <a:off x="7269480" y="4233672"/>
            <a:ext cx="4069080" cy="265176"/>
          </a:xfrm>
          <a:prstGeom prst="rect">
            <a:avLst/>
          </a:prstGeom>
          <a:noFill/>
          <a:ln/>
        </p:spPr>
        <p:txBody>
          <a:bodyPr wrap="square" lIns="0" tIns="0" rIns="0" bIns="0" rtlCol="0" anchor="t"/>
          <a:lstStyle/>
          <a:p>
            <a:pPr indent="0" marL="0">
              <a:lnSpc>
                <a:spcPct val="112000"/>
              </a:lnSpc>
              <a:buNone/>
            </a:pPr>
            <a:r>
              <a:rPr lang="en-US" sz="1400" dirty="0">
                <a:solidFill>
                  <a:srgbClr val="E07B39"/>
                </a:solidFill>
                <a:latin typeface="Consolas" pitchFamily="34" charset="0"/>
                <a:ea typeface="Consolas" pitchFamily="34" charset="-122"/>
                <a:cs typeface="Consolas" pitchFamily="34" charset="-120"/>
              </a:rPr>
              <a:t>x = (x - mean) / std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DATA PREPARATION  ·  NOTEBOOK 01</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Move the plans across datasets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14</a:t>
            </a:r>
            <a:endParaRPr lang="en-US" sz="900" dirty="0"/>
          </a:p>
        </p:txBody>
      </p:sp>
      <p:sp>
        <p:nvSpPr>
          <p:cNvPr id="6" name="Shape 4"/>
          <p:cNvSpPr/>
          <p:nvPr/>
        </p:nvSpPr>
        <p:spPr>
          <a:xfrm>
            <a:off x="640080" y="2194560"/>
            <a:ext cx="10607040" cy="960120"/>
          </a:xfrm>
          <a:prstGeom prst="roundRect">
            <a:avLst>
              <a:gd name="adj" fmla="val 5714"/>
            </a:avLst>
          </a:prstGeom>
          <a:solidFill>
            <a:srgbClr val="1F2933"/>
          </a:solidFill>
          <a:ln/>
        </p:spPr>
      </p:sp>
      <p:sp>
        <p:nvSpPr>
          <p:cNvPr id="7" name="Text 5"/>
          <p:cNvSpPr/>
          <p:nvPr/>
        </p:nvSpPr>
        <p:spPr>
          <a:xfrm>
            <a:off x="804672" y="1883664"/>
            <a:ext cx="10277856" cy="274320"/>
          </a:xfrm>
          <a:prstGeom prst="rect">
            <a:avLst/>
          </a:prstGeom>
          <a:noFill/>
          <a:ln/>
        </p:spPr>
        <p:txBody>
          <a:bodyPr wrap="square" lIns="0" tIns="0" rIns="0" bIns="0" rtlCol="0" anchor="ctr"/>
          <a:lstStyle/>
          <a:p>
            <a:pPr indent="0" marL="0">
              <a:buNone/>
            </a:pPr>
            <a:r>
              <a:rPr lang="en-US" sz="950" b="1" spc="200" kern="0" dirty="0">
                <a:solidFill>
                  <a:srgbClr val="6B7280"/>
                </a:solidFill>
                <a:latin typeface="Segoe UI" pitchFamily="34" charset="0"/>
                <a:ea typeface="Segoe UI" pitchFamily="34" charset="-122"/>
                <a:cs typeface="Segoe UI" pitchFamily="34" charset="-120"/>
              </a:rPr>
              <a:t>REAL COMMAND (READ-ONLY)</a:t>
            </a:r>
            <a:endParaRPr lang="en-US" sz="950" dirty="0"/>
          </a:p>
        </p:txBody>
      </p:sp>
      <p:sp>
        <p:nvSpPr>
          <p:cNvPr id="8" name="Text 6"/>
          <p:cNvSpPr/>
          <p:nvPr/>
        </p:nvSpPr>
        <p:spPr>
          <a:xfrm>
            <a:off x="868680" y="2359152"/>
            <a:ext cx="10149840" cy="630936"/>
          </a:xfrm>
          <a:prstGeom prst="rect">
            <a:avLst/>
          </a:prstGeom>
          <a:noFill/>
          <a:ln/>
        </p:spPr>
        <p:txBody>
          <a:bodyPr wrap="square" lIns="0" tIns="0" rIns="0" bIns="0" rtlCol="0" anchor="t"/>
          <a:lstStyle/>
          <a:p>
            <a:pPr indent="0" marL="0">
              <a:lnSpc>
                <a:spcPct val="112000"/>
              </a:lnSpc>
              <a:buNone/>
            </a:pPr>
            <a:r>
              <a:rPr lang="en-US" sz="1500" dirty="0">
                <a:solidFill>
                  <a:srgbClr val="CADCFC"/>
                </a:solidFill>
                <a:latin typeface="Consolas" pitchFamily="34" charset="0"/>
                <a:ea typeface="Consolas" pitchFamily="34" charset="-122"/>
                <a:cs typeface="Consolas" pitchFamily="34" charset="-120"/>
              </a:rPr>
              <a:t>nnUNetv2_move_plans_between_datasets</a:t>
            </a:r>
            <a:endParaRPr lang="en-US" sz="1500" dirty="0"/>
          </a:p>
          <a:p>
            <a:pPr indent="0" marL="0">
              <a:lnSpc>
                <a:spcPct val="112000"/>
              </a:lnSpc>
              <a:buNone/>
            </a:pPr>
            <a:r>
              <a:rPr lang="en-US" sz="1500" dirty="0">
                <a:solidFill>
                  <a:srgbClr val="E07B39"/>
                </a:solidFill>
                <a:latin typeface="Consolas" pitchFamily="34" charset="0"/>
                <a:ea typeface="Consolas" pitchFamily="34" charset="-122"/>
                <a:cs typeface="Consolas" pitchFamily="34" charset="-120"/>
              </a:rPr>
              <a:t>    -s &lt;pretrain_dataset&gt;  -t &lt;your_dataset&gt;</a:t>
            </a:r>
            <a:endParaRPr lang="en-US" sz="1500" dirty="0"/>
          </a:p>
        </p:txBody>
      </p:sp>
      <p:sp>
        <p:nvSpPr>
          <p:cNvPr id="9" name="Text 7"/>
          <p:cNvSpPr/>
          <p:nvPr/>
        </p:nvSpPr>
        <p:spPr>
          <a:xfrm>
            <a:off x="640080" y="3566160"/>
            <a:ext cx="10607040" cy="21945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The pretrained plans.json encodes architecture, spacing, and normalization</a:t>
            </a:r>
            <a:endParaRPr lang="en-US" sz="1500" dirty="0"/>
          </a:p>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Move it onto your dataset, then preprocess with that plans, and now data and checkpoint match</a:t>
            </a:r>
            <a:endParaRPr lang="en-US" sz="1500" dirty="0"/>
          </a:p>
          <a:p>
            <a:pPr marL="203200" indent="-203200">
              <a:spcAft>
                <a:spcPts val="1000"/>
              </a:spcAft>
              <a:buSzPct val="100000"/>
              <a:buChar char="•"/>
            </a:pPr>
            <a:r>
              <a:rPr lang="en-US" sz="1500" dirty="0">
                <a:solidFill>
                  <a:srgbClr val="C0392B"/>
                </a:solidFill>
                <a:latin typeface="Segoe UI" pitchFamily="34" charset="0"/>
                <a:ea typeface="Segoe UI" pitchFamily="34" charset="-122"/>
                <a:cs typeface="Segoe UI" pitchFamily="34" charset="-120"/>
              </a:rPr>
              <a:t>Cost: forced 1 mm isotropic resampling uses more compute and memory, and can be wrong for very anisotropic scans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DATA PREPARATION  ·  NOTEBOOK 01</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Sanity checks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15</a:t>
            </a:r>
            <a:endParaRPr lang="en-US" sz="900" dirty="0"/>
          </a:p>
        </p:txBody>
      </p:sp>
      <p:sp>
        <p:nvSpPr>
          <p:cNvPr id="6" name="Text 4"/>
          <p:cNvSpPr/>
          <p:nvPr/>
        </p:nvSpPr>
        <p:spPr>
          <a:xfrm>
            <a:off x="640080" y="1965960"/>
            <a:ext cx="10607040" cy="457200"/>
          </a:xfrm>
          <a:prstGeom prst="rect">
            <a:avLst/>
          </a:prstGeom>
          <a:noFill/>
          <a:ln/>
        </p:spPr>
        <p:txBody>
          <a:bodyPr wrap="square" lIns="0" tIns="0" rIns="0" bIns="0" rtlCol="0" anchor="ctr"/>
          <a:lstStyle/>
          <a:p>
            <a:pPr indent="0" marL="0">
              <a:buNone/>
            </a:pPr>
            <a:r>
              <a:rPr lang="en-US" sz="1600" dirty="0">
                <a:solidFill>
                  <a:srgbClr val="1F2933"/>
                </a:solidFill>
                <a:latin typeface="Segoe UI" pitchFamily="34" charset="0"/>
                <a:ea typeface="Segoe UI" pitchFamily="34" charset="-122"/>
                <a:cs typeface="Segoe UI" pitchFamily="34" charset="-120"/>
              </a:rPr>
              <a:t>After preprocessing, confirm the generated plans, not the nnU-Net defaults:</a:t>
            </a:r>
            <a:endParaRPr lang="en-US" sz="1600" dirty="0"/>
          </a:p>
        </p:txBody>
      </p:sp>
      <p:sp>
        <p:nvSpPr>
          <p:cNvPr id="7" name="Shape 5"/>
          <p:cNvSpPr/>
          <p:nvPr/>
        </p:nvSpPr>
        <p:spPr>
          <a:xfrm>
            <a:off x="822960" y="2697480"/>
            <a:ext cx="457200" cy="457200"/>
          </a:xfrm>
          <a:prstGeom prst="ellipse">
            <a:avLst/>
          </a:prstGeom>
          <a:solidFill>
            <a:srgbClr val="E07B39"/>
          </a:solidFill>
          <a:ln/>
        </p:spPr>
      </p:sp>
      <p:sp>
        <p:nvSpPr>
          <p:cNvPr id="8" name="Text 6"/>
          <p:cNvSpPr/>
          <p:nvPr/>
        </p:nvSpPr>
        <p:spPr>
          <a:xfrm>
            <a:off x="82296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9" name="Text 7"/>
          <p:cNvSpPr/>
          <p:nvPr/>
        </p:nvSpPr>
        <p:spPr>
          <a:xfrm>
            <a:off x="1508760" y="2697480"/>
            <a:ext cx="9144000" cy="457200"/>
          </a:xfrm>
          <a:prstGeom prst="rect">
            <a:avLst/>
          </a:prstGeom>
          <a:noFill/>
          <a:ln/>
        </p:spPr>
        <p:txBody>
          <a:bodyPr wrap="square" lIns="0" tIns="0" rIns="0" bIns="0" rtlCol="0" anchor="ctr"/>
          <a:lstStyle/>
          <a:p>
            <a:pPr indent="0" marL="0">
              <a:buNone/>
            </a:pPr>
            <a:r>
              <a:rPr lang="en-US" sz="1800" dirty="0">
                <a:solidFill>
                  <a:srgbClr val="1F2933"/>
                </a:solidFill>
                <a:latin typeface="Consolas" pitchFamily="34" charset="0"/>
                <a:ea typeface="Consolas" pitchFamily="34" charset="-122"/>
                <a:cs typeface="Consolas" pitchFamily="34" charset="-120"/>
              </a:rPr>
              <a:t>spacing is [1, 1, 1] ?</a:t>
            </a:r>
            <a:endParaRPr lang="en-US" sz="1800" dirty="0"/>
          </a:p>
        </p:txBody>
      </p:sp>
      <p:sp>
        <p:nvSpPr>
          <p:cNvPr id="10" name="Shape 8"/>
          <p:cNvSpPr/>
          <p:nvPr/>
        </p:nvSpPr>
        <p:spPr>
          <a:xfrm>
            <a:off x="822960" y="3474720"/>
            <a:ext cx="457200" cy="457200"/>
          </a:xfrm>
          <a:prstGeom prst="ellipse">
            <a:avLst/>
          </a:prstGeom>
          <a:solidFill>
            <a:srgbClr val="E07B39"/>
          </a:solidFill>
          <a:ln/>
        </p:spPr>
      </p:sp>
      <p:sp>
        <p:nvSpPr>
          <p:cNvPr id="11" name="Text 9"/>
          <p:cNvSpPr/>
          <p:nvPr/>
        </p:nvSpPr>
        <p:spPr>
          <a:xfrm>
            <a:off x="822960" y="3474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12" name="Text 10"/>
          <p:cNvSpPr/>
          <p:nvPr/>
        </p:nvSpPr>
        <p:spPr>
          <a:xfrm>
            <a:off x="1508760" y="3474720"/>
            <a:ext cx="9144000" cy="457200"/>
          </a:xfrm>
          <a:prstGeom prst="rect">
            <a:avLst/>
          </a:prstGeom>
          <a:noFill/>
          <a:ln/>
        </p:spPr>
        <p:txBody>
          <a:bodyPr wrap="square" lIns="0" tIns="0" rIns="0" bIns="0" rtlCol="0" anchor="ctr"/>
          <a:lstStyle/>
          <a:p>
            <a:pPr indent="0" marL="0">
              <a:buNone/>
            </a:pPr>
            <a:r>
              <a:rPr lang="en-US" sz="1800" dirty="0">
                <a:solidFill>
                  <a:srgbClr val="1F2933"/>
                </a:solidFill>
                <a:latin typeface="Consolas" pitchFamily="34" charset="0"/>
                <a:ea typeface="Consolas" pitchFamily="34" charset="-122"/>
                <a:cs typeface="Consolas" pitchFamily="34" charset="-120"/>
              </a:rPr>
              <a:t>normalization is Z-score ?</a:t>
            </a:r>
            <a:endParaRPr lang="en-US" sz="1800" dirty="0"/>
          </a:p>
        </p:txBody>
      </p:sp>
      <p:sp>
        <p:nvSpPr>
          <p:cNvPr id="13" name="Shape 11"/>
          <p:cNvSpPr/>
          <p:nvPr/>
        </p:nvSpPr>
        <p:spPr>
          <a:xfrm>
            <a:off x="822960" y="4251960"/>
            <a:ext cx="457200" cy="457200"/>
          </a:xfrm>
          <a:prstGeom prst="ellipse">
            <a:avLst/>
          </a:prstGeom>
          <a:solidFill>
            <a:srgbClr val="E07B39"/>
          </a:solidFill>
          <a:ln/>
        </p:spPr>
      </p:sp>
      <p:sp>
        <p:nvSpPr>
          <p:cNvPr id="14" name="Text 12"/>
          <p:cNvSpPr/>
          <p:nvPr/>
        </p:nvSpPr>
        <p:spPr>
          <a:xfrm>
            <a:off x="822960" y="42519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15" name="Text 13"/>
          <p:cNvSpPr/>
          <p:nvPr/>
        </p:nvSpPr>
        <p:spPr>
          <a:xfrm>
            <a:off x="1508760" y="4251960"/>
            <a:ext cx="9144000" cy="457200"/>
          </a:xfrm>
          <a:prstGeom prst="rect">
            <a:avLst/>
          </a:prstGeom>
          <a:noFill/>
          <a:ln/>
        </p:spPr>
        <p:txBody>
          <a:bodyPr wrap="square" lIns="0" tIns="0" rIns="0" bIns="0" rtlCol="0" anchor="ctr"/>
          <a:lstStyle/>
          <a:p>
            <a:pPr indent="0" marL="0">
              <a:buNone/>
            </a:pPr>
            <a:r>
              <a:rPr lang="en-US" sz="1800" dirty="0">
                <a:solidFill>
                  <a:srgbClr val="1F2933"/>
                </a:solidFill>
                <a:latin typeface="Consolas" pitchFamily="34" charset="0"/>
                <a:ea typeface="Consolas" pitchFamily="34" charset="-122"/>
                <a:cs typeface="Consolas" pitchFamily="34" charset="-120"/>
              </a:rPr>
              <a:t>channels match the checkpoint ?</a:t>
            </a:r>
            <a:endParaRPr lang="en-US" sz="1800" dirty="0"/>
          </a:p>
        </p:txBody>
      </p:sp>
      <p:sp>
        <p:nvSpPr>
          <p:cNvPr id="16" name="Text 14"/>
          <p:cNvSpPr/>
          <p:nvPr/>
        </p:nvSpPr>
        <p:spPr>
          <a:xfrm>
            <a:off x="640080" y="5257800"/>
            <a:ext cx="10607040" cy="457200"/>
          </a:xfrm>
          <a:prstGeom prst="rect">
            <a:avLst/>
          </a:prstGeom>
          <a:noFill/>
          <a:ln/>
        </p:spPr>
        <p:txBody>
          <a:bodyPr wrap="square" lIns="0" tIns="0" rIns="0" bIns="0" rtlCol="0" anchor="ctr"/>
          <a:lstStyle/>
          <a:p>
            <a:pPr indent="0" marL="0">
              <a:buNone/>
            </a:pPr>
            <a:r>
              <a:rPr lang="en-US" sz="1500" i="1" dirty="0">
                <a:solidFill>
                  <a:srgbClr val="6B7280"/>
                </a:solidFill>
                <a:latin typeface="Segoe UI" pitchFamily="34" charset="0"/>
                <a:ea typeface="Segoe UI" pitchFamily="34" charset="-122"/>
                <a:cs typeface="Segoe UI" pitchFamily="34" charset="-120"/>
              </a:rPr>
              <a:t>A 30-second check that prevents a multi-day mis-trained run.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2331720"/>
            <a:ext cx="10607040" cy="365760"/>
          </a:xfrm>
          <a:prstGeom prst="rect">
            <a:avLst/>
          </a:prstGeom>
          <a:noFill/>
          <a:ln/>
        </p:spPr>
        <p:txBody>
          <a:bodyPr wrap="square" lIns="0" tIns="0" rIns="0" bIns="0" rtlCol="0" anchor="ctr"/>
          <a:lstStyle/>
          <a:p>
            <a:pPr indent="0" marL="0">
              <a:buNone/>
            </a:pPr>
            <a:r>
              <a:rPr lang="en-US" sz="1300" b="1" spc="400" kern="0" dirty="0">
                <a:solidFill>
                  <a:srgbClr val="E07B39"/>
                </a:solidFill>
                <a:latin typeface="Segoe UI" pitchFamily="34" charset="0"/>
                <a:ea typeface="Segoe UI" pitchFamily="34" charset="-122"/>
                <a:cs typeface="Segoe UI" pitchFamily="34" charset="-120"/>
              </a:rPr>
              <a:t>Section 3</a:t>
            </a:r>
            <a:endParaRPr lang="en-US" sz="1300" dirty="0"/>
          </a:p>
        </p:txBody>
      </p:sp>
      <p:sp>
        <p:nvSpPr>
          <p:cNvPr id="3" name="Text 1"/>
          <p:cNvSpPr/>
          <p:nvPr/>
        </p:nvSpPr>
        <p:spPr>
          <a:xfrm>
            <a:off x="640080" y="2788920"/>
            <a:ext cx="10607040" cy="9601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Model architecture</a:t>
            </a:r>
            <a:endParaRPr lang="en-US" sz="4000" dirty="0"/>
          </a:p>
        </p:txBody>
      </p:sp>
      <p:sp>
        <p:nvSpPr>
          <p:cNvPr id="4" name="Text 2"/>
          <p:cNvSpPr/>
          <p:nvPr/>
        </p:nvSpPr>
        <p:spPr>
          <a:xfrm>
            <a:off x="640080" y="3931920"/>
            <a:ext cx="10607040" cy="457200"/>
          </a:xfrm>
          <a:prstGeom prst="rect">
            <a:avLst/>
          </a:prstGeom>
          <a:noFill/>
          <a:ln/>
        </p:spPr>
        <p:txBody>
          <a:bodyPr wrap="square" lIns="0" tIns="0" rIns="0" bIns="0" rtlCol="0" anchor="ctr"/>
          <a:lstStyle/>
          <a:p>
            <a:pPr indent="0" marL="0">
              <a:buNone/>
            </a:pPr>
            <a:r>
              <a:rPr lang="en-US" sz="1700" dirty="0">
                <a:solidFill>
                  <a:srgbClr val="9AA6B2"/>
                </a:solidFill>
                <a:latin typeface="Segoe UI" pitchFamily="34" charset="0"/>
                <a:ea typeface="Segoe UI" pitchFamily="34" charset="-122"/>
                <a:cs typeface="Segoe UI" pitchFamily="34" charset="-120"/>
              </a:rPr>
              <a:t>Transfer the body, re-initialize the heads  ·  Notebook 02</a:t>
            </a:r>
            <a:endParaRPr lang="en-US" sz="17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9AA6B2"/>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MODEL ARCHITECTURE  ·  NOTEBOOK 02</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U-Net recap</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17</a:t>
            </a:r>
            <a:endParaRPr lang="en-US" sz="900" dirty="0"/>
          </a:p>
        </p:txBody>
      </p:sp>
      <p:sp>
        <p:nvSpPr>
          <p:cNvPr id="6" name="Shape 4"/>
          <p:cNvSpPr/>
          <p:nvPr/>
        </p:nvSpPr>
        <p:spPr>
          <a:xfrm>
            <a:off x="2286000" y="2194560"/>
            <a:ext cx="1645920" cy="475488"/>
          </a:xfrm>
          <a:prstGeom prst="roundRect">
            <a:avLst>
              <a:gd name="adj" fmla="val 9615"/>
            </a:avLst>
          </a:prstGeom>
          <a:solidFill>
            <a:srgbClr val="9AA9BD"/>
          </a:solidFill>
          <a:ln/>
        </p:spPr>
      </p:sp>
      <p:sp>
        <p:nvSpPr>
          <p:cNvPr id="7" name="Shape 5"/>
          <p:cNvSpPr/>
          <p:nvPr/>
        </p:nvSpPr>
        <p:spPr>
          <a:xfrm>
            <a:off x="7955280" y="2194560"/>
            <a:ext cx="1645920" cy="475488"/>
          </a:xfrm>
          <a:prstGeom prst="roundRect">
            <a:avLst>
              <a:gd name="adj" fmla="val 9615"/>
            </a:avLst>
          </a:prstGeom>
          <a:solidFill>
            <a:srgbClr val="5D7290"/>
          </a:solidFill>
          <a:ln/>
        </p:spPr>
      </p:sp>
      <p:sp>
        <p:nvSpPr>
          <p:cNvPr id="8" name="Shape 6"/>
          <p:cNvSpPr/>
          <p:nvPr/>
        </p:nvSpPr>
        <p:spPr>
          <a:xfrm>
            <a:off x="2491740" y="2798064"/>
            <a:ext cx="1234440" cy="475488"/>
          </a:xfrm>
          <a:prstGeom prst="roundRect">
            <a:avLst>
              <a:gd name="adj" fmla="val 9615"/>
            </a:avLst>
          </a:prstGeom>
          <a:solidFill>
            <a:srgbClr val="9AA9BD"/>
          </a:solidFill>
          <a:ln/>
        </p:spPr>
      </p:sp>
      <p:sp>
        <p:nvSpPr>
          <p:cNvPr id="9" name="Shape 7"/>
          <p:cNvSpPr/>
          <p:nvPr/>
        </p:nvSpPr>
        <p:spPr>
          <a:xfrm>
            <a:off x="8161020" y="2798064"/>
            <a:ext cx="1234440" cy="475488"/>
          </a:xfrm>
          <a:prstGeom prst="roundRect">
            <a:avLst>
              <a:gd name="adj" fmla="val 9615"/>
            </a:avLst>
          </a:prstGeom>
          <a:solidFill>
            <a:srgbClr val="5D7290"/>
          </a:solidFill>
          <a:ln/>
        </p:spPr>
      </p:sp>
      <p:sp>
        <p:nvSpPr>
          <p:cNvPr id="10" name="Shape 8"/>
          <p:cNvSpPr/>
          <p:nvPr/>
        </p:nvSpPr>
        <p:spPr>
          <a:xfrm>
            <a:off x="2674620" y="3401568"/>
            <a:ext cx="868680" cy="475488"/>
          </a:xfrm>
          <a:prstGeom prst="roundRect">
            <a:avLst>
              <a:gd name="adj" fmla="val 9615"/>
            </a:avLst>
          </a:prstGeom>
          <a:solidFill>
            <a:srgbClr val="9AA9BD"/>
          </a:solidFill>
          <a:ln/>
        </p:spPr>
      </p:sp>
      <p:sp>
        <p:nvSpPr>
          <p:cNvPr id="11" name="Shape 9"/>
          <p:cNvSpPr/>
          <p:nvPr/>
        </p:nvSpPr>
        <p:spPr>
          <a:xfrm>
            <a:off x="8343900" y="3401568"/>
            <a:ext cx="868680" cy="475488"/>
          </a:xfrm>
          <a:prstGeom prst="roundRect">
            <a:avLst>
              <a:gd name="adj" fmla="val 9615"/>
            </a:avLst>
          </a:prstGeom>
          <a:solidFill>
            <a:srgbClr val="5D7290"/>
          </a:solidFill>
          <a:ln/>
        </p:spPr>
      </p:sp>
      <p:sp>
        <p:nvSpPr>
          <p:cNvPr id="12" name="Shape 10"/>
          <p:cNvSpPr/>
          <p:nvPr/>
        </p:nvSpPr>
        <p:spPr>
          <a:xfrm>
            <a:off x="5257800" y="4005072"/>
            <a:ext cx="1371600" cy="475488"/>
          </a:xfrm>
          <a:prstGeom prst="roundRect">
            <a:avLst>
              <a:gd name="adj" fmla="val 9615"/>
            </a:avLst>
          </a:prstGeom>
          <a:solidFill>
            <a:srgbClr val="1F2933"/>
          </a:solidFill>
          <a:ln/>
        </p:spPr>
      </p:sp>
      <p:sp>
        <p:nvSpPr>
          <p:cNvPr id="13" name="Text 11"/>
          <p:cNvSpPr/>
          <p:nvPr/>
        </p:nvSpPr>
        <p:spPr>
          <a:xfrm>
            <a:off x="5257800" y="4005072"/>
            <a:ext cx="1371600" cy="475488"/>
          </a:xfrm>
          <a:prstGeom prst="rect">
            <a:avLst/>
          </a:prstGeom>
          <a:noFill/>
          <a:ln/>
        </p:spPr>
        <p:txBody>
          <a:bodyPr wrap="square" lIns="76200" tIns="76200" rIns="76200" bIns="7620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bottleneck</a:t>
            </a:r>
            <a:endParaRPr lang="en-US" sz="1100" dirty="0"/>
          </a:p>
        </p:txBody>
      </p:sp>
      <p:sp>
        <p:nvSpPr>
          <p:cNvPr id="14" name="Shape 12"/>
          <p:cNvSpPr/>
          <p:nvPr/>
        </p:nvSpPr>
        <p:spPr>
          <a:xfrm>
            <a:off x="3108960" y="3877056"/>
            <a:ext cx="2148840" cy="365760"/>
          </a:xfrm>
          <a:prstGeom prst="line">
            <a:avLst/>
          </a:prstGeom>
          <a:noFill/>
          <a:ln w="22225">
            <a:solidFill>
              <a:srgbClr val="5D7290"/>
            </a:solidFill>
            <a:prstDash val="solid"/>
          </a:ln>
        </p:spPr>
      </p:sp>
      <p:sp>
        <p:nvSpPr>
          <p:cNvPr id="15" name="Shape 13"/>
          <p:cNvSpPr/>
          <p:nvPr/>
        </p:nvSpPr>
        <p:spPr>
          <a:xfrm flipV="1">
            <a:off x="6629400" y="3877056"/>
            <a:ext cx="2148840" cy="365760"/>
          </a:xfrm>
          <a:prstGeom prst="line">
            <a:avLst/>
          </a:prstGeom>
          <a:noFill/>
          <a:ln w="22225">
            <a:solidFill>
              <a:srgbClr val="5D7290"/>
            </a:solidFill>
            <a:prstDash val="solid"/>
          </a:ln>
        </p:spPr>
      </p:sp>
      <p:sp>
        <p:nvSpPr>
          <p:cNvPr id="16" name="Shape 14"/>
          <p:cNvSpPr/>
          <p:nvPr/>
        </p:nvSpPr>
        <p:spPr>
          <a:xfrm>
            <a:off x="3931920" y="2432304"/>
            <a:ext cx="4023360" cy="0"/>
          </a:xfrm>
          <a:prstGeom prst="line">
            <a:avLst/>
          </a:prstGeom>
          <a:noFill/>
          <a:ln w="15875">
            <a:solidFill>
              <a:srgbClr val="CDD2DA"/>
            </a:solidFill>
            <a:prstDash val="dash"/>
            <a:tailEnd type="triangle"/>
          </a:ln>
        </p:spPr>
      </p:sp>
      <p:sp>
        <p:nvSpPr>
          <p:cNvPr id="17" name="Shape 15"/>
          <p:cNvSpPr/>
          <p:nvPr/>
        </p:nvSpPr>
        <p:spPr>
          <a:xfrm>
            <a:off x="3726180" y="3035808"/>
            <a:ext cx="4434840" cy="0"/>
          </a:xfrm>
          <a:prstGeom prst="line">
            <a:avLst/>
          </a:prstGeom>
          <a:noFill/>
          <a:ln w="15875">
            <a:solidFill>
              <a:srgbClr val="CDD2DA"/>
            </a:solidFill>
            <a:prstDash val="dash"/>
            <a:tailEnd type="triangle"/>
          </a:ln>
        </p:spPr>
      </p:sp>
      <p:sp>
        <p:nvSpPr>
          <p:cNvPr id="18" name="Shape 16"/>
          <p:cNvSpPr/>
          <p:nvPr/>
        </p:nvSpPr>
        <p:spPr>
          <a:xfrm>
            <a:off x="3543300" y="3639312"/>
            <a:ext cx="4800600" cy="0"/>
          </a:xfrm>
          <a:prstGeom prst="line">
            <a:avLst/>
          </a:prstGeom>
          <a:noFill/>
          <a:ln w="15875">
            <a:solidFill>
              <a:srgbClr val="CDD2DA"/>
            </a:solidFill>
            <a:prstDash val="dash"/>
            <a:tailEnd type="triangle"/>
          </a:ln>
        </p:spPr>
      </p:sp>
      <p:sp>
        <p:nvSpPr>
          <p:cNvPr id="19" name="Text 17"/>
          <p:cNvSpPr/>
          <p:nvPr/>
        </p:nvSpPr>
        <p:spPr>
          <a:xfrm>
            <a:off x="2286000" y="3986784"/>
            <a:ext cx="164592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Segoe UI" pitchFamily="34" charset="0"/>
                <a:ea typeface="Segoe UI" pitchFamily="34" charset="-122"/>
                <a:cs typeface="Segoe UI" pitchFamily="34" charset="-120"/>
              </a:rPr>
              <a:t>encoder</a:t>
            </a:r>
            <a:endParaRPr lang="en-US" sz="1150" dirty="0"/>
          </a:p>
        </p:txBody>
      </p:sp>
      <p:sp>
        <p:nvSpPr>
          <p:cNvPr id="20" name="Text 18"/>
          <p:cNvSpPr/>
          <p:nvPr/>
        </p:nvSpPr>
        <p:spPr>
          <a:xfrm>
            <a:off x="7955280" y="3986784"/>
            <a:ext cx="164592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Segoe UI" pitchFamily="34" charset="0"/>
                <a:ea typeface="Segoe UI" pitchFamily="34" charset="-122"/>
                <a:cs typeface="Segoe UI" pitchFamily="34" charset="-120"/>
              </a:rPr>
              <a:t>decoder</a:t>
            </a:r>
            <a:endParaRPr lang="en-US" sz="1150" dirty="0"/>
          </a:p>
        </p:txBody>
      </p:sp>
      <p:sp>
        <p:nvSpPr>
          <p:cNvPr id="21" name="Text 19"/>
          <p:cNvSpPr/>
          <p:nvPr/>
        </p:nvSpPr>
        <p:spPr>
          <a:xfrm>
            <a:off x="4754880" y="1847088"/>
            <a:ext cx="237744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Segoe UI" pitchFamily="34" charset="0"/>
                <a:ea typeface="Segoe UI" pitchFamily="34" charset="-122"/>
                <a:cs typeface="Segoe UI" pitchFamily="34" charset="-120"/>
              </a:rPr>
              <a:t>skip connections</a:t>
            </a:r>
            <a:endParaRPr lang="en-US" sz="1100" dirty="0"/>
          </a:p>
        </p:txBody>
      </p:sp>
      <p:sp>
        <p:nvSpPr>
          <p:cNvPr id="22" name="Text 20"/>
          <p:cNvSpPr/>
          <p:nvPr/>
        </p:nvSpPr>
        <p:spPr>
          <a:xfrm>
            <a:off x="640080" y="4892040"/>
            <a:ext cx="10972800" cy="8229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Encoder compresses to semantic features; decoder upsamples back to full resolution; skips carry spatial detail across</a:t>
            </a:r>
            <a:endParaRPr lang="en-US" sz="1500" dirty="0"/>
          </a:p>
        </p:txBody>
      </p:sp>
      <p:sp>
        <p:nvSpPr>
          <p:cNvPr id="23" name="Text 21"/>
          <p:cNvSpPr/>
          <p:nvPr/>
        </p:nvSpPr>
        <p:spPr>
          <a:xfrm>
            <a:off x="640080" y="5577840"/>
            <a:ext cx="10881360" cy="365760"/>
          </a:xfrm>
          <a:prstGeom prst="rect">
            <a:avLst/>
          </a:prstGeom>
          <a:noFill/>
          <a:ln/>
        </p:spPr>
        <p:txBody>
          <a:bodyPr wrap="square" lIns="0" tIns="0" rIns="0" bIns="0" rtlCol="0" anchor="ctr"/>
          <a:lstStyle/>
          <a:p>
            <a:pPr algn="l" indent="0" marL="0">
              <a:buNone/>
            </a:pPr>
            <a:r>
              <a:rPr lang="en-US" sz="1100" i="1" dirty="0">
                <a:solidFill>
                  <a:srgbClr val="6B7280"/>
                </a:solidFill>
                <a:latin typeface="Segoe UI" pitchFamily="34" charset="0"/>
                <a:ea typeface="Segoe UI" pitchFamily="34" charset="-122"/>
                <a:cs typeface="Segoe UI" pitchFamily="34" charset="-120"/>
              </a:rPr>
              <a:t>Segmentation is per-voxel classification at the output.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MODEL ARCHITECTURE  ·  NOTEBOOK 02</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ResEnc-L, the backbone</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18</a:t>
            </a:r>
            <a:endParaRPr lang="en-US" sz="900" dirty="0"/>
          </a:p>
        </p:txBody>
      </p:sp>
      <p:sp>
        <p:nvSpPr>
          <p:cNvPr id="6" name="Text 4"/>
          <p:cNvSpPr/>
          <p:nvPr/>
        </p:nvSpPr>
        <p:spPr>
          <a:xfrm>
            <a:off x="640080" y="1965960"/>
            <a:ext cx="1060704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Residual encoder, large preset</a:t>
            </a:r>
            <a:endParaRPr lang="en-US" sz="2000" dirty="0"/>
          </a:p>
        </p:txBody>
      </p:sp>
      <p:sp>
        <p:nvSpPr>
          <p:cNvPr id="7" name="Text 5"/>
          <p:cNvSpPr/>
          <p:nvPr/>
        </p:nvSpPr>
        <p:spPr>
          <a:xfrm>
            <a:off x="640080" y="2788920"/>
            <a:ext cx="10789920" cy="2651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Vanilla nnU-Net uses plain conv blocks; ResEnc adds residual blocks in the encoder, so it trains deeper and more stably</a:t>
            </a:r>
            <a:endParaRPr lang="en-US" sz="1500" dirty="0"/>
          </a:p>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The design is encoder-heavy: most of the capacity sits in the downsampling path</a:t>
            </a:r>
            <a:endParaRPr lang="en-US" sz="1500" dirty="0"/>
          </a:p>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"L" is the large preset: more features and blocks, sized for large GPUs and big datasets (M / L / XL scale with VRAM)</a:t>
            </a:r>
            <a:endParaRPr lang="en-US" sz="1500" dirty="0"/>
          </a:p>
          <a:p>
            <a:pPr marL="203200" indent="-203200">
              <a:spcAft>
                <a:spcPts val="1000"/>
              </a:spcAft>
              <a:buSzPct val="100000"/>
              <a:buChar char="•"/>
            </a:pPr>
            <a:r>
              <a:rPr lang="en-US" sz="1500" dirty="0">
                <a:solidFill>
                  <a:srgbClr val="1F2933"/>
                </a:solidFill>
                <a:latin typeface="Segoe UI" pitchFamily="34" charset="0"/>
                <a:ea typeface="Segoe UI" pitchFamily="34" charset="-122"/>
                <a:cs typeface="Segoe UI" pitchFamily="34" charset="-120"/>
              </a:rPr>
              <a:t>We inherit it from the moved plans; patch size 192-cubed at 1 mm needs a large GPU, so the notebooks teach the logic on a tiny model</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MODEL ARCHITECTURE  ·  NOTEBOOK 02</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Encoder, decoder body, seg heads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19</a:t>
            </a:r>
            <a:endParaRPr lang="en-US" sz="900" dirty="0"/>
          </a:p>
        </p:txBody>
      </p:sp>
      <p:sp>
        <p:nvSpPr>
          <p:cNvPr id="6" name="Text 4"/>
          <p:cNvSpPr/>
          <p:nvPr/>
        </p:nvSpPr>
        <p:spPr>
          <a:xfrm>
            <a:off x="640080" y="1874520"/>
            <a:ext cx="10607040" cy="457200"/>
          </a:xfrm>
          <a:prstGeom prst="rect">
            <a:avLst/>
          </a:prstGeom>
          <a:noFill/>
          <a:ln/>
        </p:spPr>
        <p:txBody>
          <a:bodyPr wrap="square" lIns="0" tIns="0" rIns="0" bIns="0" rtlCol="0" anchor="ctr"/>
          <a:lstStyle/>
          <a:p>
            <a:pPr indent="0" marL="0">
              <a:buNone/>
            </a:pPr>
            <a:r>
              <a:rPr lang="en-US" sz="1600" dirty="0">
                <a:solidFill>
                  <a:srgbClr val="1F2933"/>
                </a:solidFill>
                <a:latin typeface="Segoe UI" pitchFamily="34" charset="0"/>
                <a:ea typeface="Segoe UI" pitchFamily="34" charset="-122"/>
                <a:cs typeface="Segoe UI" pitchFamily="34" charset="-120"/>
              </a:rPr>
              <a:t>Split the network into three parts. This split decides what transfers.</a:t>
            </a:r>
            <a:endParaRPr lang="en-US" sz="1600" dirty="0"/>
          </a:p>
        </p:txBody>
      </p:sp>
      <p:sp>
        <p:nvSpPr>
          <p:cNvPr id="7" name="Shape 5"/>
          <p:cNvSpPr/>
          <p:nvPr/>
        </p:nvSpPr>
        <p:spPr>
          <a:xfrm>
            <a:off x="640080" y="2606040"/>
            <a:ext cx="3410712" cy="2194560"/>
          </a:xfrm>
          <a:prstGeom prst="roundRect">
            <a:avLst>
              <a:gd name="adj" fmla="val 3333"/>
            </a:avLst>
          </a:prstGeom>
          <a:solidFill>
            <a:srgbClr val="9AA9BD"/>
          </a:solidFill>
          <a:ln/>
          <a:effectLst>
            <a:outerShdw sx="100000" sy="100000" kx="0" ky="0" algn="bl" rotWithShape="0" blurRad="88900" dist="38100" dir="5400000">
              <a:srgbClr val="8A97A6">
                <a:alpha val="22000"/>
              </a:srgbClr>
            </a:outerShdw>
          </a:effectLst>
        </p:spPr>
      </p:sp>
      <p:sp>
        <p:nvSpPr>
          <p:cNvPr id="8" name="Text 6"/>
          <p:cNvSpPr/>
          <p:nvPr/>
        </p:nvSpPr>
        <p:spPr>
          <a:xfrm>
            <a:off x="914400" y="2834640"/>
            <a:ext cx="283464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Encoder</a:t>
            </a:r>
            <a:endParaRPr lang="en-US" sz="1900" dirty="0"/>
          </a:p>
        </p:txBody>
      </p:sp>
      <p:sp>
        <p:nvSpPr>
          <p:cNvPr id="9" name="Text 7"/>
          <p:cNvSpPr/>
          <p:nvPr/>
        </p:nvSpPr>
        <p:spPr>
          <a:xfrm>
            <a:off x="914400" y="3383280"/>
            <a:ext cx="2926080" cy="118872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Compresses input to features. General anatomy.</a:t>
            </a:r>
            <a:endParaRPr lang="en-US" sz="1400" dirty="0"/>
          </a:p>
        </p:txBody>
      </p:sp>
      <p:sp>
        <p:nvSpPr>
          <p:cNvPr id="10" name="Shape 8"/>
          <p:cNvSpPr/>
          <p:nvPr/>
        </p:nvSpPr>
        <p:spPr>
          <a:xfrm>
            <a:off x="4233672" y="2606040"/>
            <a:ext cx="3410712" cy="2194560"/>
          </a:xfrm>
          <a:prstGeom prst="roundRect">
            <a:avLst>
              <a:gd name="adj" fmla="val 3333"/>
            </a:avLst>
          </a:prstGeom>
          <a:solidFill>
            <a:srgbClr val="5D7290"/>
          </a:solidFill>
          <a:ln/>
          <a:effectLst>
            <a:outerShdw sx="100000" sy="100000" kx="0" ky="0" algn="bl" rotWithShape="0" blurRad="88900" dist="38100" dir="5400000">
              <a:srgbClr val="8A97A6">
                <a:alpha val="22000"/>
              </a:srgbClr>
            </a:outerShdw>
          </a:effectLst>
        </p:spPr>
      </p:sp>
      <p:sp>
        <p:nvSpPr>
          <p:cNvPr id="11" name="Text 9"/>
          <p:cNvSpPr/>
          <p:nvPr/>
        </p:nvSpPr>
        <p:spPr>
          <a:xfrm>
            <a:off x="4507992" y="2834640"/>
            <a:ext cx="283464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Decoder body</a:t>
            </a:r>
            <a:endParaRPr lang="en-US" sz="1900" dirty="0"/>
          </a:p>
        </p:txBody>
      </p:sp>
      <p:sp>
        <p:nvSpPr>
          <p:cNvPr id="12" name="Text 10"/>
          <p:cNvSpPr/>
          <p:nvPr/>
        </p:nvSpPr>
        <p:spPr>
          <a:xfrm>
            <a:off x="4507992" y="3383280"/>
            <a:ext cx="2926080" cy="118872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Upsamples back to resolution. General.</a:t>
            </a:r>
            <a:endParaRPr lang="en-US" sz="1400" dirty="0"/>
          </a:p>
        </p:txBody>
      </p:sp>
      <p:sp>
        <p:nvSpPr>
          <p:cNvPr id="13" name="Shape 11"/>
          <p:cNvSpPr/>
          <p:nvPr/>
        </p:nvSpPr>
        <p:spPr>
          <a:xfrm>
            <a:off x="7827264" y="2606040"/>
            <a:ext cx="3410712" cy="2194560"/>
          </a:xfrm>
          <a:prstGeom prst="roundRect">
            <a:avLst>
              <a:gd name="adj" fmla="val 3333"/>
            </a:avLst>
          </a:prstGeom>
          <a:solidFill>
            <a:srgbClr val="E07B39"/>
          </a:solidFill>
          <a:ln/>
          <a:effectLst>
            <a:outerShdw sx="100000" sy="100000" kx="0" ky="0" algn="bl" rotWithShape="0" blurRad="88900" dist="38100" dir="5400000">
              <a:srgbClr val="8A97A6">
                <a:alpha val="22000"/>
              </a:srgbClr>
            </a:outerShdw>
          </a:effectLst>
        </p:spPr>
      </p:sp>
      <p:sp>
        <p:nvSpPr>
          <p:cNvPr id="14" name="Text 12"/>
          <p:cNvSpPr/>
          <p:nvPr/>
        </p:nvSpPr>
        <p:spPr>
          <a:xfrm>
            <a:off x="8101584" y="2834640"/>
            <a:ext cx="283464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Seg layers (heads)</a:t>
            </a:r>
            <a:endParaRPr lang="en-US" sz="1900" dirty="0"/>
          </a:p>
        </p:txBody>
      </p:sp>
      <p:sp>
        <p:nvSpPr>
          <p:cNvPr id="15" name="Text 13"/>
          <p:cNvSpPr/>
          <p:nvPr/>
        </p:nvSpPr>
        <p:spPr>
          <a:xfrm>
            <a:off x="8101584" y="3383280"/>
            <a:ext cx="2926080" cy="118872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Map features to your class set. Task-specific.</a:t>
            </a:r>
            <a:endParaRPr lang="en-US" sz="1400" dirty="0"/>
          </a:p>
        </p:txBody>
      </p:sp>
      <p:sp>
        <p:nvSpPr>
          <p:cNvPr id="16" name="Text 14"/>
          <p:cNvSpPr/>
          <p:nvPr/>
        </p:nvSpPr>
        <p:spPr>
          <a:xfrm>
            <a:off x="640080" y="5120640"/>
            <a:ext cx="10607040" cy="457200"/>
          </a:xfrm>
          <a:prstGeom prst="rect">
            <a:avLst/>
          </a:prstGeom>
          <a:noFill/>
          <a:ln/>
        </p:spPr>
        <p:txBody>
          <a:bodyPr wrap="square" lIns="0" tIns="0" rIns="0" bIns="0" rtlCol="0" anchor="ctr"/>
          <a:lstStyle/>
          <a:p>
            <a:pPr algn="ctr" indent="0" marL="0">
              <a:buNone/>
            </a:pPr>
            <a:r>
              <a:rPr lang="en-US" sz="1450" i="1" dirty="0">
                <a:solidFill>
                  <a:srgbClr val="6B7280"/>
                </a:solidFill>
                <a:latin typeface="Segoe UI" pitchFamily="34" charset="0"/>
                <a:ea typeface="Segoe UI" pitchFamily="34" charset="-122"/>
                <a:cs typeface="Segoe UI" pitchFamily="34" charset="-120"/>
              </a:rPr>
              <a:t>Encoder and decoder body carry transferable anatomy. The seg layers are task-specific.</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MODEL ARCHITECTURE  ·  NOTEBOOK 02</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What transfers versus what re-initializes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20</a:t>
            </a:r>
            <a:endParaRPr lang="en-US" sz="900" dirty="0"/>
          </a:p>
        </p:txBody>
      </p:sp>
      <p:sp>
        <p:nvSpPr>
          <p:cNvPr id="6" name="Shape 4"/>
          <p:cNvSpPr/>
          <p:nvPr/>
        </p:nvSpPr>
        <p:spPr>
          <a:xfrm>
            <a:off x="1000819" y="1673352"/>
            <a:ext cx="6959482" cy="4425696"/>
          </a:xfrm>
          <a:prstGeom prst="roundRect">
            <a:avLst>
              <a:gd name="adj" fmla="val 826"/>
            </a:avLst>
          </a:prstGeom>
          <a:solidFill>
            <a:srgbClr val="FFFFFF"/>
          </a:solidFill>
          <a:ln w="12700">
            <a:solidFill>
              <a:srgbClr val="DDE3EA"/>
            </a:solidFill>
            <a:prstDash val="solid"/>
          </a:ln>
        </p:spPr>
      </p:sp>
      <p:pic>
        <p:nvPicPr>
          <p:cNvPr id="7" name="Image 0" descr="C:\Users\Keishi Suzuki\Projects\internal-mini-course\assets\figures\architecture_transfer.png">    </p:cNvPr>
          <p:cNvPicPr>
            <a:picLocks noChangeAspect="1"/>
          </p:cNvPicPr>
          <p:nvPr/>
        </p:nvPicPr>
        <p:blipFill>
          <a:blip r:embed="rId1"/>
          <a:stretch>
            <a:fillRect/>
          </a:stretch>
        </p:blipFill>
        <p:spPr>
          <a:xfrm>
            <a:off x="1110547" y="1783080"/>
            <a:ext cx="6740026" cy="4206240"/>
          </a:xfrm>
          <a:prstGeom prst="rect">
            <a:avLst/>
          </a:prstGeom>
        </p:spPr>
      </p:pic>
      <p:sp>
        <p:nvSpPr>
          <p:cNvPr id="8" name="Text 5"/>
          <p:cNvSpPr/>
          <p:nvPr/>
        </p:nvSpPr>
        <p:spPr>
          <a:xfrm>
            <a:off x="8503920" y="1874520"/>
            <a:ext cx="3063240" cy="310896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1F2933"/>
                </a:solidFill>
                <a:latin typeface="Segoe UI" pitchFamily="34" charset="0"/>
                <a:ea typeface="Segoe UI" pitchFamily="34" charset="-122"/>
                <a:cs typeface="Segoe UI" pitchFamily="34" charset="-120"/>
              </a:rPr>
              <a:t>Load pretrained weights for every key except those containing .seg_layers.</a:t>
            </a:r>
            <a:endParaRPr lang="en-US" sz="1300" dirty="0"/>
          </a:p>
          <a:p>
            <a:pPr marL="203200" indent="-203200">
              <a:spcAft>
                <a:spcPts val="1000"/>
              </a:spcAft>
              <a:buSzPct val="100000"/>
              <a:buChar char="•"/>
            </a:pPr>
            <a:r>
              <a:rPr lang="en-US" sz="1300" dirty="0">
                <a:solidFill>
                  <a:srgbClr val="1F2933"/>
                </a:solidFill>
                <a:latin typeface="Segoe UI" pitchFamily="34" charset="0"/>
                <a:ea typeface="Segoe UI" pitchFamily="34" charset="-122"/>
                <a:cs typeface="Segoe UI" pitchFamily="34" charset="-120"/>
              </a:rPr>
              <a:t>Deep supervision puts seg_layers at several decoder scales; the substring match skips all of them, so every head re-inits</a:t>
            </a:r>
            <a:endParaRPr lang="en-US" sz="1300" dirty="0"/>
          </a:p>
          <a:p>
            <a:pPr marL="203200" indent="-203200">
              <a:spcAft>
                <a:spcPts val="1000"/>
              </a:spcAft>
              <a:buSzPct val="100000"/>
              <a:buChar char="•"/>
            </a:pPr>
            <a:r>
              <a:rPr lang="en-US" sz="1300" dirty="0">
                <a:solidFill>
                  <a:srgbClr val="C0392B"/>
                </a:solidFill>
                <a:latin typeface="Segoe UI" pitchFamily="34" charset="0"/>
                <a:ea typeface="Segoe UI" pitchFamily="34" charset="-122"/>
                <a:cs typeface="Segoe UI" pitchFamily="34" charset="-120"/>
              </a:rPr>
              <a:t>Caveat: if class counts match, nnU-Net may load the heads instead. Re-init follows from skipping the keys, it is not automatic</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MODEL ARCHITECTURE  ·  NOTEBOOK 02</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Why re-initialize the heads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21</a:t>
            </a:r>
            <a:endParaRPr lang="en-US" sz="900" dirty="0"/>
          </a:p>
        </p:txBody>
      </p:sp>
      <p:sp>
        <p:nvSpPr>
          <p:cNvPr id="6" name="Text 4"/>
          <p:cNvSpPr/>
          <p:nvPr/>
        </p:nvSpPr>
        <p:spPr>
          <a:xfrm>
            <a:off x="640080" y="2011680"/>
            <a:ext cx="1060704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New task, new label meaning</a:t>
            </a:r>
            <a:endParaRPr lang="en-US" sz="2000" dirty="0"/>
          </a:p>
        </p:txBody>
      </p:sp>
      <p:sp>
        <p:nvSpPr>
          <p:cNvPr id="7" name="Shape 5"/>
          <p:cNvSpPr/>
          <p:nvPr/>
        </p:nvSpPr>
        <p:spPr>
          <a:xfrm>
            <a:off x="640080" y="2926080"/>
            <a:ext cx="3840480" cy="1371600"/>
          </a:xfrm>
          <a:prstGeom prst="roundRect">
            <a:avLst>
              <a:gd name="adj" fmla="val 5333"/>
            </a:avLst>
          </a:prstGeom>
          <a:solidFill>
            <a:srgbClr val="F4F6F8"/>
          </a:solidFill>
          <a:ln w="12700">
            <a:solidFill>
              <a:srgbClr val="DDE3EA"/>
            </a:solidFill>
            <a:prstDash val="solid"/>
          </a:ln>
        </p:spPr>
      </p:sp>
      <p:sp>
        <p:nvSpPr>
          <p:cNvPr id="8" name="Text 6"/>
          <p:cNvSpPr/>
          <p:nvPr/>
        </p:nvSpPr>
        <p:spPr>
          <a:xfrm>
            <a:off x="640080" y="2926080"/>
            <a:ext cx="3840480" cy="1371600"/>
          </a:xfrm>
          <a:prstGeom prst="rect">
            <a:avLst/>
          </a:prstGeom>
          <a:noFill/>
          <a:ln/>
        </p:spPr>
        <p:txBody>
          <a:bodyPr wrap="square" lIns="76200" tIns="76200" rIns="76200" bIns="76200" rtlCol="0" anchor="ctr"/>
          <a:lstStyle/>
          <a:p>
            <a:pPr algn="ctr" indent="0" marL="0">
              <a:buNone/>
            </a:pPr>
            <a:r>
              <a:rPr lang="en-US" sz="1500" dirty="0">
                <a:solidFill>
                  <a:srgbClr val="6B7280"/>
                </a:solidFill>
                <a:latin typeface="Segoe UI" pitchFamily="34" charset="0"/>
                <a:ea typeface="Segoe UI" pitchFamily="34" charset="-122"/>
                <a:cs typeface="Segoe UI" pitchFamily="34" charset="-120"/>
              </a:rPr>
              <a:t>Old heads</a:t>
            </a:r>
            <a:endParaRPr lang="en-US" sz="1500" dirty="0"/>
          </a:p>
          <a:p>
            <a:pPr algn="ctr" indent="0" marL="0">
              <a:buNone/>
            </a:pPr>
            <a:r>
              <a:rPr lang="en-US" sz="1500" dirty="0">
                <a:solidFill>
                  <a:srgbClr val="6B7280"/>
                </a:solidFill>
                <a:latin typeface="Segoe UI" pitchFamily="34" charset="0"/>
                <a:ea typeface="Segoe UI" pitchFamily="34" charset="-122"/>
                <a:cs typeface="Segoe UI" pitchFamily="34" charset="-120"/>
              </a:rPr>
              <a:t>(N pretraining datasets)</a:t>
            </a:r>
            <a:endParaRPr lang="en-US" sz="1500" dirty="0"/>
          </a:p>
        </p:txBody>
      </p:sp>
      <p:sp>
        <p:nvSpPr>
          <p:cNvPr id="9" name="Shape 7"/>
          <p:cNvSpPr/>
          <p:nvPr/>
        </p:nvSpPr>
        <p:spPr>
          <a:xfrm>
            <a:off x="4663440" y="3611880"/>
            <a:ext cx="1371600" cy="0"/>
          </a:xfrm>
          <a:prstGeom prst="line">
            <a:avLst/>
          </a:prstGeom>
          <a:noFill/>
          <a:ln w="38100">
            <a:solidFill>
              <a:srgbClr val="E07B39"/>
            </a:solidFill>
            <a:prstDash val="solid"/>
            <a:tailEnd type="triangle"/>
          </a:ln>
        </p:spPr>
      </p:sp>
      <p:sp>
        <p:nvSpPr>
          <p:cNvPr id="10" name="Shape 8"/>
          <p:cNvSpPr/>
          <p:nvPr/>
        </p:nvSpPr>
        <p:spPr>
          <a:xfrm>
            <a:off x="6217920" y="2926080"/>
            <a:ext cx="3840480" cy="1371600"/>
          </a:xfrm>
          <a:prstGeom prst="roundRect">
            <a:avLst>
              <a:gd name="adj" fmla="val 5333"/>
            </a:avLst>
          </a:prstGeom>
          <a:solidFill>
            <a:srgbClr val="FFFFFF"/>
          </a:solidFill>
          <a:ln w="25400">
            <a:solidFill>
              <a:srgbClr val="E07B39"/>
            </a:solidFill>
            <a:prstDash val="solid"/>
          </a:ln>
        </p:spPr>
      </p:sp>
      <p:sp>
        <p:nvSpPr>
          <p:cNvPr id="11" name="Text 9"/>
          <p:cNvSpPr/>
          <p:nvPr/>
        </p:nvSpPr>
        <p:spPr>
          <a:xfrm>
            <a:off x="6217920" y="2926080"/>
            <a:ext cx="3840480" cy="1371600"/>
          </a:xfrm>
          <a:prstGeom prst="rect">
            <a:avLst/>
          </a:prstGeom>
          <a:noFill/>
          <a:ln/>
        </p:spPr>
        <p:txBody>
          <a:bodyPr wrap="square" lIns="76200" tIns="76200" rIns="76200" bIns="76200" rtlCol="0" anchor="ctr"/>
          <a:lstStyle/>
          <a:p>
            <a:pPr algn="ctr" indent="0" marL="0">
              <a:buNone/>
            </a:pPr>
            <a:r>
              <a:rPr lang="en-US" sz="1500" b="1" dirty="0">
                <a:solidFill>
                  <a:srgbClr val="1F2933"/>
                </a:solidFill>
                <a:latin typeface="Segoe UI" pitchFamily="34" charset="0"/>
                <a:ea typeface="Segoe UI" pitchFamily="34" charset="-122"/>
                <a:cs typeface="Segoe UI" pitchFamily="34" charset="-120"/>
              </a:rPr>
              <a:t>One fresh head</a:t>
            </a:r>
            <a:endParaRPr lang="en-US" sz="1500" dirty="0"/>
          </a:p>
          <a:p>
            <a:pPr algn="ctr" indent="0" marL="0">
              <a:buNone/>
            </a:pPr>
            <a:r>
              <a:rPr lang="en-US" sz="1500" b="1" dirty="0">
                <a:solidFill>
                  <a:srgbClr val="1F2933"/>
                </a:solidFill>
                <a:latin typeface="Segoe UI" pitchFamily="34" charset="0"/>
                <a:ea typeface="Segoe UI" pitchFamily="34" charset="-122"/>
                <a:cs typeface="Segoe UI" pitchFamily="34" charset="-120"/>
              </a:rPr>
              <a:t>(your lesion label)</a:t>
            </a:r>
            <a:endParaRPr lang="en-US" sz="1500" dirty="0"/>
          </a:p>
        </p:txBody>
      </p:sp>
      <p:sp>
        <p:nvSpPr>
          <p:cNvPr id="12" name="Text 10"/>
          <p:cNvSpPr/>
          <p:nvPr/>
        </p:nvSpPr>
        <p:spPr>
          <a:xfrm>
            <a:off x="640080" y="4663440"/>
            <a:ext cx="10058400" cy="914400"/>
          </a:xfrm>
          <a:prstGeom prst="rect">
            <a:avLst/>
          </a:prstGeom>
          <a:noFill/>
          <a:ln/>
        </p:spPr>
        <p:txBody>
          <a:bodyPr wrap="square" lIns="0" tIns="0" rIns="0" bIns="0" rtlCol="0" anchor="t"/>
          <a:lstStyle/>
          <a:p>
            <a:pPr indent="0" marL="0">
              <a:buNone/>
            </a:pPr>
            <a:r>
              <a:rPr lang="en-US" sz="1500" i="1" dirty="0">
                <a:solidFill>
                  <a:srgbClr val="6B7280"/>
                </a:solidFill>
                <a:latin typeface="Segoe UI" pitchFamily="34" charset="0"/>
                <a:ea typeface="Segoe UI" pitchFamily="34" charset="-122"/>
                <a:cs typeface="Segoe UI" pitchFamily="34" charset="-120"/>
              </a:rPr>
              <a:t>Drop the pretraining heads, attach a fresh head, and let fine-tuning learn the new mapping on the transferred body. This is the MultiTalent swap-the-head idea from earlier.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2331720"/>
            <a:ext cx="10607040" cy="365760"/>
          </a:xfrm>
          <a:prstGeom prst="rect">
            <a:avLst/>
          </a:prstGeom>
          <a:noFill/>
          <a:ln/>
        </p:spPr>
        <p:txBody>
          <a:bodyPr wrap="square" lIns="0" tIns="0" rIns="0" bIns="0" rtlCol="0" anchor="ctr"/>
          <a:lstStyle/>
          <a:p>
            <a:pPr indent="0" marL="0">
              <a:buNone/>
            </a:pPr>
            <a:r>
              <a:rPr lang="en-US" sz="1300" b="1" spc="400" kern="0" dirty="0">
                <a:solidFill>
                  <a:srgbClr val="E07B39"/>
                </a:solidFill>
                <a:latin typeface="Segoe UI" pitchFamily="34" charset="0"/>
                <a:ea typeface="Segoe UI" pitchFamily="34" charset="-122"/>
                <a:cs typeface="Segoe UI" pitchFamily="34" charset="-120"/>
              </a:rPr>
              <a:t>Section 4</a:t>
            </a:r>
            <a:endParaRPr lang="en-US" sz="1300" dirty="0"/>
          </a:p>
        </p:txBody>
      </p:sp>
      <p:sp>
        <p:nvSpPr>
          <p:cNvPr id="3" name="Text 1"/>
          <p:cNvSpPr/>
          <p:nvPr/>
        </p:nvSpPr>
        <p:spPr>
          <a:xfrm>
            <a:off x="640080" y="2788920"/>
            <a:ext cx="10607040" cy="9601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Training protocol</a:t>
            </a:r>
            <a:endParaRPr lang="en-US" sz="4000" dirty="0"/>
          </a:p>
        </p:txBody>
      </p:sp>
      <p:sp>
        <p:nvSpPr>
          <p:cNvPr id="4" name="Text 2"/>
          <p:cNvSpPr/>
          <p:nvPr/>
        </p:nvSpPr>
        <p:spPr>
          <a:xfrm>
            <a:off x="640080" y="3931920"/>
            <a:ext cx="10607040" cy="457200"/>
          </a:xfrm>
          <a:prstGeom prst="rect">
            <a:avLst/>
          </a:prstGeom>
          <a:noFill/>
          <a:ln/>
        </p:spPr>
        <p:txBody>
          <a:bodyPr wrap="square" lIns="0" tIns="0" rIns="0" bIns="0" rtlCol="0" anchor="ctr"/>
          <a:lstStyle/>
          <a:p>
            <a:pPr indent="0" marL="0">
              <a:buNone/>
            </a:pPr>
            <a:r>
              <a:rPr lang="en-US" sz="1700" dirty="0">
                <a:solidFill>
                  <a:srgbClr val="9AA6B2"/>
                </a:solidFill>
                <a:latin typeface="Segoe UI" pitchFamily="34" charset="0"/>
                <a:ea typeface="Segoe UI" pitchFamily="34" charset="-122"/>
                <a:cs typeface="Segoe UI" pitchFamily="34" charset="-120"/>
              </a:rPr>
              <a:t>The two-phase learning-rate schedule  ·  the main section  ·  Notebook 03</a:t>
            </a:r>
            <a:endParaRPr lang="en-US" sz="17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9AA6B2"/>
                </a:solidFill>
                <a:latin typeface="Segoe UI" pitchFamily="34" charset="0"/>
                <a:ea typeface="Segoe UI" pitchFamily="34" charset="-122"/>
                <a:cs typeface="Segoe U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schedule that makes it work</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23</a:t>
            </a:r>
            <a:endParaRPr lang="en-US" sz="900" dirty="0"/>
          </a:p>
        </p:txBody>
      </p:sp>
      <p:pic>
        <p:nvPicPr>
          <p:cNvPr id="6" name="Image 0" descr="C:\Users\Keishi Suzuki\Projects\internal-mini-course\assets\figures\lr_schedule.png">    </p:cNvPr>
          <p:cNvPicPr>
            <a:picLocks noChangeAspect="1"/>
          </p:cNvPicPr>
          <p:nvPr/>
        </p:nvPicPr>
        <p:blipFill>
          <a:blip r:embed="rId1"/>
          <a:stretch>
            <a:fillRect/>
          </a:stretch>
        </p:blipFill>
        <p:spPr>
          <a:xfrm>
            <a:off x="2690208" y="2011680"/>
            <a:ext cx="6506785" cy="3291840"/>
          </a:xfrm>
          <a:prstGeom prst="rect">
            <a:avLst/>
          </a:prstGeom>
        </p:spPr>
      </p:pic>
      <p:sp>
        <p:nvSpPr>
          <p:cNvPr id="7" name="Shape 4"/>
          <p:cNvSpPr/>
          <p:nvPr/>
        </p:nvSpPr>
        <p:spPr>
          <a:xfrm>
            <a:off x="2690208" y="2011680"/>
            <a:ext cx="6506785" cy="3291840"/>
          </a:xfrm>
          <a:prstGeom prst="rect">
            <a:avLst/>
          </a:prstGeom>
          <a:solidFill>
            <a:srgbClr val="FFFFFF">
              <a:alpha val="62000"/>
            </a:srgbClr>
          </a:solidFill>
          <a:ln/>
        </p:spPr>
      </p:sp>
      <p:sp>
        <p:nvSpPr>
          <p:cNvPr id="8" name="Text 5"/>
          <p:cNvSpPr/>
          <p:nvPr/>
        </p:nvSpPr>
        <p:spPr>
          <a:xfrm>
            <a:off x="640080" y="5394960"/>
            <a:ext cx="10607040" cy="457200"/>
          </a:xfrm>
          <a:prstGeom prst="rect">
            <a:avLst/>
          </a:prstGeom>
          <a:noFill/>
          <a:ln/>
        </p:spPr>
        <p:txBody>
          <a:bodyPr wrap="square" lIns="0" tIns="0" rIns="0" bIns="0" rtlCol="0" anchor="ctr"/>
          <a:lstStyle/>
          <a:p>
            <a:pPr algn="ctr" indent="0" marL="0">
              <a:buNone/>
            </a:pPr>
            <a:r>
              <a:rPr lang="en-US" sz="1800" b="1" dirty="0">
                <a:solidFill>
                  <a:srgbClr val="1F2933"/>
                </a:solidFill>
                <a:latin typeface="Segoe UI" pitchFamily="34" charset="0"/>
                <a:ea typeface="Segoe UI" pitchFamily="34" charset="-122"/>
                <a:cs typeface="Segoe UI" pitchFamily="34" charset="-120"/>
              </a:rPr>
              <a:t>Control the learning rate over time.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default: poly decay from 0.01</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24</a:t>
            </a:r>
            <a:endParaRPr lang="en-US" sz="900" dirty="0"/>
          </a:p>
        </p:txBody>
      </p:sp>
      <p:graphicFrame>
        <p:nvGraphicFramePr>
          <p:cNvPr id="6" name="Chart 0" descr=""/>
          <p:cNvGraphicFramePr/>
          <p:nvPr/>
        </p:nvGraphicFramePr>
        <p:xfrm>
          <a:off x="5943600" y="2011680"/>
          <a:ext cx="5577840" cy="33832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0080" y="2286000"/>
            <a:ext cx="493776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Strong from scratch</a:t>
            </a:r>
            <a:endParaRPr lang="en-US" sz="2000" dirty="0"/>
          </a:p>
        </p:txBody>
      </p:sp>
      <p:sp>
        <p:nvSpPr>
          <p:cNvPr id="8" name="Text 5"/>
          <p:cNvSpPr/>
          <p:nvPr/>
        </p:nvSpPr>
        <p:spPr>
          <a:xfrm>
            <a:off x="640080" y="3108960"/>
            <a:ext cx="4937760" cy="23774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From scratch, nnU-Net uses SGD with polynomial decay starting at 0.01</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A strong default for random initialization</a:t>
            </a:r>
            <a:endParaRPr lang="en-US" sz="1400" dirty="0"/>
          </a:p>
          <a:p>
            <a:pPr marL="203200" indent="-203200">
              <a:spcAft>
                <a:spcPts val="1000"/>
              </a:spcAft>
              <a:buSzPct val="100000"/>
              <a:buChar char="•"/>
            </a:pPr>
            <a:r>
              <a:rPr lang="en-US" sz="1400" dirty="0">
                <a:solidFill>
                  <a:srgbClr val="C0392B"/>
                </a:solidFill>
                <a:latin typeface="Segoe UI" pitchFamily="34" charset="0"/>
                <a:ea typeface="Segoe UI" pitchFamily="34" charset="-122"/>
                <a:cs typeface="Segoe UI" pitchFamily="34" charset="-120"/>
              </a:rPr>
              <a:t>On a pretrained model, starting at 0.01 takes large steps immediately and washes out the features you wanted to keep</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Phase 1: linear warm-up</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25</a:t>
            </a:r>
            <a:endParaRPr lang="en-US" sz="900" dirty="0"/>
          </a:p>
        </p:txBody>
      </p:sp>
      <p:graphicFrame>
        <p:nvGraphicFramePr>
          <p:cNvPr id="6" name="Chart 0" descr=""/>
          <p:cNvGraphicFramePr/>
          <p:nvPr/>
        </p:nvGraphicFramePr>
        <p:xfrm>
          <a:off x="5943600" y="2011680"/>
          <a:ext cx="5577840" cy="33832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0080" y="2377440"/>
            <a:ext cx="493776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Ramp from ~2e-5 to 1e-3</a:t>
            </a:r>
            <a:endParaRPr lang="en-US" sz="2000" dirty="0"/>
          </a:p>
        </p:txBody>
      </p:sp>
      <p:sp>
        <p:nvSpPr>
          <p:cNvPr id="8" name="Shape 5"/>
          <p:cNvSpPr/>
          <p:nvPr/>
        </p:nvSpPr>
        <p:spPr>
          <a:xfrm>
            <a:off x="640080" y="3246120"/>
            <a:ext cx="4937760" cy="566928"/>
          </a:xfrm>
          <a:prstGeom prst="roundRect">
            <a:avLst>
              <a:gd name="adj" fmla="val 9677"/>
            </a:avLst>
          </a:prstGeom>
          <a:solidFill>
            <a:srgbClr val="F4F6F8"/>
          </a:solidFill>
          <a:ln w="12700">
            <a:solidFill>
              <a:srgbClr val="DDE3EA"/>
            </a:solidFill>
            <a:prstDash val="solid"/>
          </a:ln>
        </p:spPr>
      </p:sp>
      <p:sp>
        <p:nvSpPr>
          <p:cNvPr id="9" name="Text 6"/>
          <p:cNvSpPr/>
          <p:nvPr/>
        </p:nvSpPr>
        <p:spPr>
          <a:xfrm>
            <a:off x="868680" y="3410712"/>
            <a:ext cx="4480560" cy="237744"/>
          </a:xfrm>
          <a:prstGeom prst="rect">
            <a:avLst/>
          </a:prstGeom>
          <a:noFill/>
          <a:ln/>
        </p:spPr>
        <p:txBody>
          <a:bodyPr wrap="square" lIns="0" tIns="0" rIns="0" bIns="0" rtlCol="0" anchor="t"/>
          <a:lstStyle/>
          <a:p>
            <a:pPr indent="0" marL="0">
              <a:lnSpc>
                <a:spcPct val="112000"/>
              </a:lnSpc>
              <a:buNone/>
            </a:pPr>
            <a:r>
              <a:rPr lang="en-US" sz="1300" dirty="0">
                <a:solidFill>
                  <a:srgbClr val="E07B39"/>
                </a:solidFill>
                <a:latin typeface="Consolas" pitchFamily="34" charset="0"/>
                <a:ea typeface="Consolas" pitchFamily="34" charset="-122"/>
                <a:cs typeface="Consolas" pitchFamily="34" charset="-120"/>
              </a:rPr>
              <a:t>lr = max_lr / 50 * (epoch + 1)</a:t>
            </a:r>
            <a:endParaRPr lang="en-US" sz="1300" dirty="0"/>
          </a:p>
        </p:txBody>
      </p:sp>
      <p:sp>
        <p:nvSpPr>
          <p:cNvPr id="10" name="Text 7"/>
          <p:cNvSpPr/>
          <p:nvPr/>
        </p:nvSpPr>
        <p:spPr>
          <a:xfrm>
            <a:off x="640080" y="4069080"/>
            <a:ext cx="4937760" cy="14630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Epoch 0 is about 2e-5 (max_lr / 50), not zero</a:t>
            </a:r>
            <a:endParaRPr lang="en-US" sz="1400" dirty="0"/>
          </a:p>
          <a:p>
            <a:pPr marL="203200" indent="-203200">
              <a:spcAft>
                <a:spcPts val="1000"/>
              </a:spcAft>
              <a:buSzPct val="100000"/>
              <a:buChar char="•"/>
            </a:pPr>
            <a:r>
              <a:rPr lang="en-US" sz="1400" dirty="0">
                <a:solidFill>
                  <a:srgbClr val="1F2933"/>
                </a:solidFill>
                <a:latin typeface="Segoe UI" pitchFamily="34" charset="0"/>
                <a:ea typeface="Segoe UI" pitchFamily="34" charset="-122"/>
                <a:cs typeface="Segoe UI" pitchFamily="34" charset="-120"/>
              </a:rPr>
              <a:t>Small early steps let the fresh heads and the body settle together</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Phase 2: offset polynomial decay</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26</a:t>
            </a:r>
            <a:endParaRPr lang="en-US" sz="900" dirty="0"/>
          </a:p>
        </p:txBody>
      </p:sp>
      <p:graphicFrame>
        <p:nvGraphicFramePr>
          <p:cNvPr id="6" name="Chart 0" descr=""/>
          <p:cNvGraphicFramePr/>
          <p:nvPr/>
        </p:nvGraphicFramePr>
        <p:xfrm>
          <a:off x="5943600" y="2011680"/>
          <a:ext cx="5577840" cy="33832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0080" y="2286000"/>
            <a:ext cx="4937760" cy="822960"/>
          </a:xfrm>
          <a:prstGeom prst="rect">
            <a:avLst/>
          </a:prstGeom>
          <a:noFill/>
          <a:ln/>
        </p:spPr>
        <p:txBody>
          <a:bodyPr wrap="square" lIns="0" tIns="0" rIns="0" bIns="0" rtlCol="0" anchor="t"/>
          <a:lstStyle/>
          <a:p>
            <a:pPr indent="0" marL="0">
              <a:buNone/>
            </a:pPr>
            <a:r>
              <a:rPr lang="en-US" sz="2000" b="1" dirty="0">
                <a:solidFill>
                  <a:srgbClr val="1F2933"/>
                </a:solidFill>
                <a:latin typeface="Segoe UI" pitchFamily="34" charset="0"/>
                <a:ea typeface="Segoe UI" pitchFamily="34" charset="-122"/>
                <a:cs typeface="Segoe UI" pitchFamily="34" charset="-120"/>
              </a:rPr>
              <a:t>Decay 1e-3 toward 0</a:t>
            </a:r>
            <a:endParaRPr lang="en-US" sz="2000" dirty="0"/>
          </a:p>
        </p:txBody>
      </p:sp>
      <p:sp>
        <p:nvSpPr>
          <p:cNvPr id="8" name="Shape 5"/>
          <p:cNvSpPr/>
          <p:nvPr/>
        </p:nvSpPr>
        <p:spPr>
          <a:xfrm>
            <a:off x="640080" y="3154680"/>
            <a:ext cx="4937760" cy="566928"/>
          </a:xfrm>
          <a:prstGeom prst="roundRect">
            <a:avLst>
              <a:gd name="adj" fmla="val 9677"/>
            </a:avLst>
          </a:prstGeom>
          <a:solidFill>
            <a:srgbClr val="F4F6F8"/>
          </a:solidFill>
          <a:ln w="12700">
            <a:solidFill>
              <a:srgbClr val="DDE3EA"/>
            </a:solidFill>
            <a:prstDash val="solid"/>
          </a:ln>
        </p:spPr>
      </p:sp>
      <p:sp>
        <p:nvSpPr>
          <p:cNvPr id="9" name="Text 6"/>
          <p:cNvSpPr/>
          <p:nvPr/>
        </p:nvSpPr>
        <p:spPr>
          <a:xfrm>
            <a:off x="868680" y="3319272"/>
            <a:ext cx="4480560" cy="237744"/>
          </a:xfrm>
          <a:prstGeom prst="rect">
            <a:avLst/>
          </a:prstGeom>
          <a:noFill/>
          <a:ln/>
        </p:spPr>
        <p:txBody>
          <a:bodyPr wrap="square" lIns="0" tIns="0" rIns="0" bIns="0" rtlCol="0" anchor="t"/>
          <a:lstStyle/>
          <a:p>
            <a:pPr indent="0" marL="0">
              <a:lnSpc>
                <a:spcPct val="112000"/>
              </a:lnSpc>
              <a:buNone/>
            </a:pPr>
            <a:r>
              <a:rPr lang="en-US" sz="1300" dirty="0">
                <a:solidFill>
                  <a:srgbClr val="E07B39"/>
                </a:solidFill>
                <a:latin typeface="Consolas" pitchFamily="34" charset="0"/>
                <a:ea typeface="Consolas" pitchFamily="34" charset="-122"/>
                <a:cs typeface="Consolas" pitchFamily="34" charset="-120"/>
              </a:rPr>
              <a:t>lr = init * (1 - t/(T-50))**0.9</a:t>
            </a:r>
            <a:endParaRPr lang="en-US" sz="1300" dirty="0"/>
          </a:p>
        </p:txBody>
      </p:sp>
      <p:sp>
        <p:nvSpPr>
          <p:cNvPr id="10" name="Text 7"/>
          <p:cNvSpPr/>
          <p:nvPr/>
        </p:nvSpPr>
        <p:spPr>
          <a:xfrm>
            <a:off x="640080" y="3931920"/>
            <a:ext cx="4937760" cy="164592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At epoch 50, switch to poly decay restarting at the 1e-3 peak</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"Offset" means the decay clock starts at epoch 50, not 0</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Same SGD optimizer continues, so momentum is preserved</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full two-phase curve</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27</a:t>
            </a:r>
            <a:endParaRPr lang="en-US" sz="900" dirty="0"/>
          </a:p>
        </p:txBody>
      </p:sp>
      <p:sp>
        <p:nvSpPr>
          <p:cNvPr id="6" name="Shape 4"/>
          <p:cNvSpPr/>
          <p:nvPr/>
        </p:nvSpPr>
        <p:spPr>
          <a:xfrm>
            <a:off x="2218991" y="1764792"/>
            <a:ext cx="7449217" cy="3877056"/>
          </a:xfrm>
          <a:prstGeom prst="roundRect">
            <a:avLst>
              <a:gd name="adj" fmla="val 943"/>
            </a:avLst>
          </a:prstGeom>
          <a:solidFill>
            <a:srgbClr val="FFFFFF"/>
          </a:solidFill>
          <a:ln w="12700">
            <a:solidFill>
              <a:srgbClr val="DDE3EA"/>
            </a:solidFill>
            <a:prstDash val="solid"/>
          </a:ln>
        </p:spPr>
      </p:sp>
      <p:pic>
        <p:nvPicPr>
          <p:cNvPr id="7" name="Image 0" descr="C:\Users\Keishi Suzuki\Projects\internal-mini-course\assets\figures\lr_schedule.png">    </p:cNvPr>
          <p:cNvPicPr>
            <a:picLocks noChangeAspect="1"/>
          </p:cNvPicPr>
          <p:nvPr/>
        </p:nvPicPr>
        <p:blipFill>
          <a:blip r:embed="rId1"/>
          <a:stretch>
            <a:fillRect/>
          </a:stretch>
        </p:blipFill>
        <p:spPr>
          <a:xfrm>
            <a:off x="2328719" y="1874520"/>
            <a:ext cx="7229761" cy="3657600"/>
          </a:xfrm>
          <a:prstGeom prst="rect">
            <a:avLst/>
          </a:prstGeom>
        </p:spPr>
      </p:pic>
      <p:sp>
        <p:nvSpPr>
          <p:cNvPr id="8" name="Text 5"/>
          <p:cNvSpPr/>
          <p:nvPr/>
        </p:nvSpPr>
        <p:spPr>
          <a:xfrm>
            <a:off x="640080" y="5715000"/>
            <a:ext cx="1060704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Ramp up, then decay, one peak at epoch 50. That is the entire two-phase idea.</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How the trainer wires it</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28</a:t>
            </a:r>
            <a:endParaRPr lang="en-US" sz="900" dirty="0"/>
          </a:p>
        </p:txBody>
      </p:sp>
      <p:sp>
        <p:nvSpPr>
          <p:cNvPr id="6" name="Shape 4"/>
          <p:cNvSpPr/>
          <p:nvPr/>
        </p:nvSpPr>
        <p:spPr>
          <a:xfrm>
            <a:off x="640080" y="2240280"/>
            <a:ext cx="7040880" cy="2468880"/>
          </a:xfrm>
          <a:prstGeom prst="roundRect">
            <a:avLst>
              <a:gd name="adj" fmla="val 2222"/>
            </a:avLst>
          </a:prstGeom>
          <a:solidFill>
            <a:srgbClr val="1F2933"/>
          </a:solidFill>
          <a:ln/>
        </p:spPr>
      </p:sp>
      <p:sp>
        <p:nvSpPr>
          <p:cNvPr id="7" name="Text 5"/>
          <p:cNvSpPr/>
          <p:nvPr/>
        </p:nvSpPr>
        <p:spPr>
          <a:xfrm>
            <a:off x="804672" y="1929384"/>
            <a:ext cx="6711696" cy="274320"/>
          </a:xfrm>
          <a:prstGeom prst="rect">
            <a:avLst/>
          </a:prstGeom>
          <a:noFill/>
          <a:ln/>
        </p:spPr>
        <p:txBody>
          <a:bodyPr wrap="square" lIns="0" tIns="0" rIns="0" bIns="0" rtlCol="0" anchor="ctr"/>
          <a:lstStyle/>
          <a:p>
            <a:pPr indent="0" marL="0">
              <a:buNone/>
            </a:pPr>
            <a:r>
              <a:rPr lang="en-US" sz="950" b="1" spc="200" kern="0" dirty="0">
                <a:solidFill>
                  <a:srgbClr val="6B7280"/>
                </a:solidFill>
                <a:latin typeface="Segoe UI" pitchFamily="34" charset="0"/>
                <a:ea typeface="Segoe UI" pitchFamily="34" charset="-122"/>
                <a:cs typeface="Segoe UI" pitchFamily="34" charset="-120"/>
              </a:rPr>
              <a:t>CUSTOM TRAINER (READ-ONLY)</a:t>
            </a:r>
            <a:endParaRPr lang="en-US" sz="950" dirty="0"/>
          </a:p>
        </p:txBody>
      </p:sp>
      <p:sp>
        <p:nvSpPr>
          <p:cNvPr id="8" name="Text 6"/>
          <p:cNvSpPr/>
          <p:nvPr/>
        </p:nvSpPr>
        <p:spPr>
          <a:xfrm>
            <a:off x="868680" y="2404872"/>
            <a:ext cx="6583680" cy="2139696"/>
          </a:xfrm>
          <a:prstGeom prst="rect">
            <a:avLst/>
          </a:prstGeom>
          <a:noFill/>
          <a:ln/>
        </p:spPr>
        <p:txBody>
          <a:bodyPr wrap="square" lIns="0" tIns="0" rIns="0" bIns="0" rtlCol="0" anchor="t"/>
          <a:lstStyle/>
          <a:p>
            <a:pPr indent="0" marL="0">
              <a:lnSpc>
                <a:spcPct val="112000"/>
              </a:lnSpc>
              <a:buNone/>
            </a:pPr>
            <a:r>
              <a:rPr lang="en-US" sz="1250" dirty="0">
                <a:solidFill>
                  <a:srgbClr val="CADCFC"/>
                </a:solidFill>
                <a:latin typeface="Consolas" pitchFamily="34" charset="0"/>
                <a:ea typeface="Consolas" pitchFamily="34" charset="-122"/>
                <a:cs typeface="Consolas" pitchFamily="34" charset="-120"/>
              </a:rPr>
              <a:t>def on_train_epoch_start(self):</a:t>
            </a:r>
            <a:endParaRPr lang="en-US" sz="1250" dirty="0"/>
          </a:p>
          <a:p>
            <a:pPr indent="0" marL="0">
              <a:lnSpc>
                <a:spcPct val="112000"/>
              </a:lnSpc>
              <a:buNone/>
            </a:pPr>
            <a:r>
              <a:rPr lang="en-US" sz="1250" dirty="0">
                <a:solidFill>
                  <a:srgbClr val="CADCFC"/>
                </a:solidFill>
                <a:latin typeface="Consolas" pitchFamily="34" charset="0"/>
                <a:ea typeface="Consolas" pitchFamily="34" charset="-122"/>
                <a:cs typeface="Consolas" pitchFamily="34" charset="-120"/>
              </a:rPr>
              <a:t>    if self.current_epoch == 0:</a:t>
            </a:r>
            <a:endParaRPr lang="en-US" sz="1250" dirty="0"/>
          </a:p>
          <a:p>
            <a:pPr indent="0" marL="0">
              <a:lnSpc>
                <a:spcPct val="112000"/>
              </a:lnSpc>
              <a:buNone/>
            </a:pPr>
            <a:r>
              <a:rPr lang="en-US" sz="1250" dirty="0">
                <a:solidFill>
                  <a:srgbClr val="9AA6B2"/>
                </a:solidFill>
                <a:latin typeface="Consolas" pitchFamily="34" charset="0"/>
                <a:ea typeface="Consolas" pitchFamily="34" charset="-122"/>
                <a:cs typeface="Consolas" pitchFamily="34" charset="-120"/>
              </a:rPr>
              <a:t>        # build linear warm-up scheduler</a:t>
            </a:r>
            <a:endParaRPr lang="en-US" sz="1250" dirty="0"/>
          </a:p>
          <a:p>
            <a:pPr indent="0" marL="0">
              <a:lnSpc>
                <a:spcPct val="112000"/>
              </a:lnSpc>
              <a:buNone/>
            </a:pPr>
            <a:r>
              <a:rPr lang="en-US" sz="1250" dirty="0">
                <a:solidFill>
                  <a:srgbClr val="E07B39"/>
                </a:solidFill>
                <a:latin typeface="Consolas" pitchFamily="34" charset="0"/>
                <a:ea typeface="Consolas" pitchFamily="34" charset="-122"/>
                <a:cs typeface="Consolas" pitchFamily="34" charset="-120"/>
              </a:rPr>
              <a:t>        self.lr_scheduler = LinearWarmup(peak=1e-3, dur=50)</a:t>
            </a:r>
            <a:endParaRPr lang="en-US" sz="1250" dirty="0"/>
          </a:p>
          <a:p>
            <a:pPr indent="0" marL="0">
              <a:lnSpc>
                <a:spcPct val="112000"/>
              </a:lnSpc>
              <a:buNone/>
            </a:pPr>
            <a:r>
              <a:rPr lang="en-US" sz="1250" dirty="0">
                <a:solidFill>
                  <a:srgbClr val="CADCFC"/>
                </a:solidFill>
                <a:latin typeface="Consolas" pitchFamily="34" charset="0"/>
                <a:ea typeface="Consolas" pitchFamily="34" charset="-122"/>
                <a:cs typeface="Consolas" pitchFamily="34" charset="-120"/>
              </a:rPr>
              <a:t>    elif self.current_epoch == warmup_duration_whole_net:  # 50</a:t>
            </a:r>
            <a:endParaRPr lang="en-US" sz="1250" dirty="0"/>
          </a:p>
          <a:p>
            <a:pPr indent="0" marL="0">
              <a:lnSpc>
                <a:spcPct val="112000"/>
              </a:lnSpc>
              <a:buNone/>
            </a:pPr>
            <a:r>
              <a:rPr lang="en-US" sz="1250" dirty="0">
                <a:solidFill>
                  <a:srgbClr val="9AA6B2"/>
                </a:solidFill>
                <a:latin typeface="Consolas" pitchFamily="34" charset="0"/>
                <a:ea typeface="Consolas" pitchFamily="34" charset="-122"/>
                <a:cs typeface="Consolas" pitchFamily="34" charset="-120"/>
              </a:rPr>
              <a:t>        # build offset-poly scheduler, same optimizer</a:t>
            </a:r>
            <a:endParaRPr lang="en-US" sz="1250" dirty="0"/>
          </a:p>
          <a:p>
            <a:pPr indent="0" marL="0">
              <a:lnSpc>
                <a:spcPct val="112000"/>
              </a:lnSpc>
              <a:buNone/>
            </a:pPr>
            <a:r>
              <a:rPr lang="en-US" sz="1250" dirty="0">
                <a:solidFill>
                  <a:srgbClr val="E07B39"/>
                </a:solidFill>
                <a:latin typeface="Consolas" pitchFamily="34" charset="0"/>
                <a:ea typeface="Consolas" pitchFamily="34" charset="-122"/>
                <a:cs typeface="Consolas" pitchFamily="34" charset="-120"/>
              </a:rPr>
              <a:t>        self.lr_scheduler = OffsetPolyLR(init=1e-3, total=1000)</a:t>
            </a:r>
            <a:endParaRPr lang="en-US" sz="1250" dirty="0"/>
          </a:p>
        </p:txBody>
      </p:sp>
      <p:sp>
        <p:nvSpPr>
          <p:cNvPr id="9" name="Text 7"/>
          <p:cNvSpPr/>
          <p:nvPr/>
        </p:nvSpPr>
        <p:spPr>
          <a:xfrm>
            <a:off x="8138160" y="2148840"/>
            <a:ext cx="3383280" cy="301752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Swap the scheduler at the right epoch, reuse the same optimizer</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Two stage labels: "warmup_all" and "train"</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"train" just names the post-warm-up decay phase; both phases train the whole network</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evidence: TBI Table 2</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6766560" cy="914400"/>
        </p:xfrm>
        <a:graphic>
          <a:graphicData uri="http://schemas.openxmlformats.org/drawingml/2006/table">
            <a:tbl>
              <a:tblPr/>
              <a:tblGrid>
                <a:gridCol w="4480560"/>
                <a:gridCol w="2286000"/>
              </a:tblGrid>
              <a:tr h="475488">
                <a:tc>
                  <a:txBody>
                    <a:bodyPr/>
                    <a:lstStyle/>
                    <a:p>
                      <a:pPr algn="l" indent="0" marL="0">
                        <a:buNone/>
                      </a:pPr>
                      <a:r>
                        <a:rPr lang="en-US" sz="1500" b="1" dirty="0">
                          <a:solidFill>
                            <a:srgbClr val="FFFFFF"/>
                          </a:solidFill>
                          <a:latin typeface="Segoe UI" pitchFamily="34" charset="0"/>
                          <a:ea typeface="Segoe UI" pitchFamily="34" charset="-122"/>
                          <a:cs typeface="Segoe UI" pitchFamily="34" charset="-120"/>
                        </a:rPr>
                        <a:t>fine-tuning schedule</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F2933"/>
                    </a:solidFill>
                  </a:tcPr>
                </a:tc>
                <a:tc>
                  <a:txBody>
                    <a:bodyPr/>
                    <a:lstStyle/>
                    <a:p>
                      <a:pPr algn="ctr" indent="0" marL="0">
                        <a:buNone/>
                      </a:pPr>
                      <a:r>
                        <a:rPr lang="en-US" sz="1500" b="1" dirty="0">
                          <a:solidFill>
                            <a:srgbClr val="FFFFFF"/>
                          </a:solidFill>
                          <a:latin typeface="Segoe UI" pitchFamily="34" charset="0"/>
                          <a:ea typeface="Segoe UI" pitchFamily="34" charset="-122"/>
                          <a:cs typeface="Segoe UI" pitchFamily="34" charset="-120"/>
                        </a:rPr>
                        <a:t>5-fold avg Dice</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F2933"/>
                    </a:solidFill>
                  </a:tcPr>
                </a:tc>
              </a:tr>
              <a:tr h="475488">
                <a:tc>
                  <a:txBody>
                    <a:bodyPr/>
                    <a:lstStyle/>
                    <a:p>
                      <a:pPr algn="l" indent="0" marL="0">
                        <a:buNone/>
                      </a:pPr>
                      <a:r>
                        <a:rPr lang="en-US" sz="1500" dirty="0">
                          <a:solidFill>
                            <a:srgbClr val="1F2933"/>
                          </a:solidFill>
                          <a:latin typeface="Segoe UI" pitchFamily="34" charset="0"/>
                          <a:ea typeface="Segoe UI" pitchFamily="34" charset="-122"/>
                          <a:cs typeface="Segoe UI" pitchFamily="34" charset="-120"/>
                        </a:rPr>
                        <a:t>from scratch</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3"/>
                          </a:solidFill>
                          <a:latin typeface="Segoe UI" pitchFamily="34" charset="0"/>
                          <a:ea typeface="Segoe UI" pitchFamily="34" charset="-122"/>
                          <a:cs typeface="Segoe UI" pitchFamily="34" charset="-120"/>
                        </a:rPr>
                        <a:t>53.44</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3"/>
                          </a:solidFill>
                          <a:latin typeface="Segoe UI" pitchFamily="34" charset="0"/>
                          <a:ea typeface="Segoe UI" pitchFamily="34" charset="-122"/>
                          <a:cs typeface="Segoe UI" pitchFamily="34" charset="-120"/>
                        </a:rPr>
                        <a:t>plain 1e-3 (no warm-up)</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3"/>
                          </a:solidFill>
                          <a:latin typeface="Segoe UI" pitchFamily="34" charset="0"/>
                          <a:ea typeface="Segoe UI" pitchFamily="34" charset="-122"/>
                          <a:cs typeface="Segoe UI" pitchFamily="34" charset="-120"/>
                        </a:rPr>
                        <a:t>53.80</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1F2933"/>
                          </a:solidFill>
                          <a:latin typeface="Segoe UI" pitchFamily="34" charset="0"/>
                          <a:ea typeface="Segoe UI" pitchFamily="34" charset="-122"/>
                          <a:cs typeface="Segoe UI" pitchFamily="34" charset="-120"/>
                        </a:rPr>
                        <a:t>warm-up → 1e-3</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E07B39"/>
                          </a:solidFill>
                          <a:latin typeface="Segoe UI" pitchFamily="34" charset="0"/>
                          <a:ea typeface="Segoe UI" pitchFamily="34" charset="-122"/>
                          <a:cs typeface="Segoe UI" pitchFamily="34" charset="-120"/>
                        </a:rPr>
                        <a:t>54.21   (best)</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C0392B"/>
                          </a:solidFill>
                          <a:latin typeface="Segoe UI" pitchFamily="34" charset="0"/>
                          <a:ea typeface="Segoe UI" pitchFamily="34" charset="-122"/>
                          <a:cs typeface="Segoe UI" pitchFamily="34" charset="-120"/>
                        </a:rPr>
                        <a:t>warm-up → 1e-2</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0392B"/>
                          </a:solidFill>
                          <a:latin typeface="Segoe UI" pitchFamily="34" charset="0"/>
                          <a:ea typeface="Segoe UI" pitchFamily="34" charset="-122"/>
                          <a:cs typeface="Segoe UI" pitchFamily="34" charset="-120"/>
                        </a:rPr>
                        <a:t>53.28   (worse)</a:t>
                      </a:r>
                      <a:endParaRPr lang="en-US" sz="1500" dirty="0">
                        <a:latin typeface="Segoe UI" charset="0"/>
                        <a:ea typeface="Segoe UI" charset="0"/>
                        <a:cs typeface="Segoe U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bl>
          </a:graphicData>
        </a:graphic>
      </p:graphicFrame>
      <p:sp>
        <p:nvSpPr>
          <p:cNvPr id="7" name="Text 4"/>
          <p:cNvSpPr/>
          <p:nvPr/>
        </p:nvSpPr>
        <p:spPr>
          <a:xfrm>
            <a:off x="7955280" y="2194560"/>
            <a:ext cx="3566160" cy="292608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1F2933"/>
                </a:solidFill>
                <a:latin typeface="Segoe UI" pitchFamily="34" charset="0"/>
                <a:ea typeface="Segoe UI" pitchFamily="34" charset="-122"/>
                <a:cs typeface="Segoe UI" pitchFamily="34" charset="-120"/>
              </a:rPr>
              <a:t>Pretraining + correct fine-tuning beats from-scratch</a:t>
            </a:r>
            <a:endParaRPr lang="en-US" sz="1300" dirty="0"/>
          </a:p>
          <a:p>
            <a:pPr marL="203200" indent="-203200">
              <a:spcAft>
                <a:spcPts val="1000"/>
              </a:spcAft>
              <a:buSzPct val="100000"/>
              <a:buChar char="•"/>
            </a:pPr>
            <a:r>
              <a:rPr lang="en-US" sz="1300" dirty="0">
                <a:solidFill>
                  <a:srgbClr val="1F2933"/>
                </a:solidFill>
                <a:latin typeface="Segoe UI" pitchFamily="34" charset="0"/>
                <a:ea typeface="Segoe UI" pitchFamily="34" charset="-122"/>
                <a:cs typeface="Segoe UI" pitchFamily="34" charset="-120"/>
              </a:rPr>
              <a:t>Among schedules, warm-up to 1e-3 beats plain 1e-3</a:t>
            </a:r>
            <a:endParaRPr lang="en-US" sz="1300" dirty="0"/>
          </a:p>
          <a:p>
            <a:pPr marL="203200" indent="-203200">
              <a:spcAft>
                <a:spcPts val="1000"/>
              </a:spcAft>
              <a:buSzPct val="100000"/>
              <a:buChar char="•"/>
            </a:pPr>
            <a:r>
              <a:rPr lang="en-US" sz="1300" dirty="0">
                <a:solidFill>
                  <a:srgbClr val="1F2933"/>
                </a:solidFill>
                <a:latin typeface="Segoe UI" pitchFamily="34" charset="0"/>
                <a:ea typeface="Segoe UI" pitchFamily="34" charset="-122"/>
                <a:cs typeface="Segoe UI" pitchFamily="34" charset="-120"/>
              </a:rPr>
              <a:t>Warm-up to 1e-2 is worse: the peak LR matters too</a:t>
            </a:r>
            <a:endParaRPr lang="en-US" sz="1300" dirty="0"/>
          </a:p>
          <a:p>
            <a:pPr marL="203200" indent="-203200">
              <a:spcAft>
                <a:spcPts val="1000"/>
              </a:spcAft>
              <a:buSzPct val="100000"/>
              <a:buChar char="•"/>
            </a:pPr>
            <a:r>
              <a:rPr lang="en-US" sz="1300" b="1" dirty="0">
                <a:solidFill>
                  <a:srgbClr val="E07B39"/>
                </a:solidFill>
                <a:latin typeface="Segoe UI" pitchFamily="34" charset="0"/>
                <a:ea typeface="Segoe UI" pitchFamily="34" charset="-122"/>
                <a:cs typeface="Segoe UI" pitchFamily="34" charset="-120"/>
              </a:rPr>
              <a:t>The warm-up gain over plain 1e-3 is +0.41 Dice: small but real</a:t>
            </a:r>
            <a:endParaRPr lang="en-US" sz="1300" dirty="0"/>
          </a:p>
        </p:txBody>
      </p:sp>
      <p:sp>
        <p:nvSpPr>
          <p:cNvPr id="8" name="Text 5"/>
          <p:cNvSpPr/>
          <p:nvPr/>
        </p:nvSpPr>
        <p:spPr>
          <a:xfrm>
            <a:off x="640080" y="5257800"/>
            <a:ext cx="6766560" cy="365760"/>
          </a:xfrm>
          <a:prstGeom prst="rect">
            <a:avLst/>
          </a:prstGeom>
          <a:noFill/>
          <a:ln/>
        </p:spPr>
        <p:txBody>
          <a:bodyPr wrap="square" lIns="0" tIns="0" rIns="0" bIns="0" rtlCol="0" anchor="ctr"/>
          <a:lstStyle/>
          <a:p>
            <a:pPr algn="l" indent="0" marL="0">
              <a:buNone/>
            </a:pPr>
            <a:r>
              <a:rPr lang="en-US" sz="1100" i="1" dirty="0">
                <a:solidFill>
                  <a:srgbClr val="6B7280"/>
                </a:solidFill>
                <a:latin typeface="Segoe UI" pitchFamily="34" charset="0"/>
                <a:ea typeface="Segoe UI" pitchFamily="34" charset="-122"/>
                <a:cs typeface="Segoe UI" pitchFamily="34" charset="-120"/>
              </a:rPr>
              <a:t>Source: TBI paper, Table 2 (arXiv:2504.06741).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PANTHER says: not always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30</a:t>
            </a:r>
            <a:endParaRPr lang="en-US" sz="900" dirty="0"/>
          </a:p>
        </p:txBody>
      </p:sp>
      <p:sp>
        <p:nvSpPr>
          <p:cNvPr id="6" name="Shape 4"/>
          <p:cNvSpPr/>
          <p:nvPr/>
        </p:nvSpPr>
        <p:spPr>
          <a:xfrm>
            <a:off x="640080" y="2377440"/>
            <a:ext cx="5120640" cy="2468880"/>
          </a:xfrm>
          <a:prstGeom prst="roundRect">
            <a:avLst>
              <a:gd name="adj" fmla="val 3704"/>
            </a:avLst>
          </a:prstGeom>
          <a:solidFill>
            <a:srgbClr val="FFFFFF"/>
          </a:solidFill>
          <a:ln w="25400">
            <a:solidFill>
              <a:srgbClr val="E07B39"/>
            </a:solidFill>
            <a:prstDash val="solid"/>
          </a:ln>
          <a:effectLst>
            <a:outerShdw sx="100000" sy="100000" kx="0" ky="0" algn="bl" rotWithShape="0" blurRad="88900" dist="38100" dir="5400000">
              <a:srgbClr val="8A97A6">
                <a:alpha val="22000"/>
              </a:srgbClr>
            </a:outerShdw>
          </a:effectLst>
        </p:spPr>
      </p:sp>
      <p:sp>
        <p:nvSpPr>
          <p:cNvPr id="7" name="Text 5"/>
          <p:cNvSpPr/>
          <p:nvPr/>
        </p:nvSpPr>
        <p:spPr>
          <a:xfrm>
            <a:off x="960120" y="2606040"/>
            <a:ext cx="4480560" cy="411480"/>
          </a:xfrm>
          <a:prstGeom prst="rect">
            <a:avLst/>
          </a:prstGeom>
          <a:noFill/>
          <a:ln/>
        </p:spPr>
        <p:txBody>
          <a:bodyPr wrap="square" lIns="0" tIns="0" rIns="0" bIns="0" rtlCol="0" anchor="ctr"/>
          <a:lstStyle/>
          <a:p>
            <a:pPr indent="0" marL="0">
              <a:buNone/>
            </a:pPr>
            <a:r>
              <a:rPr lang="en-US" sz="1800" b="1" dirty="0">
                <a:solidFill>
                  <a:srgbClr val="E07B39"/>
                </a:solidFill>
                <a:latin typeface="Segoe UI" pitchFamily="34" charset="0"/>
                <a:ea typeface="Segoe UI" pitchFamily="34" charset="-122"/>
                <a:cs typeface="Segoe UI" pitchFamily="34" charset="-120"/>
              </a:rPr>
              <a:t>TBI</a:t>
            </a:r>
            <a:endParaRPr lang="en-US" sz="1800" dirty="0"/>
          </a:p>
        </p:txBody>
      </p:sp>
      <p:sp>
        <p:nvSpPr>
          <p:cNvPr id="8" name="Text 6"/>
          <p:cNvSpPr/>
          <p:nvPr/>
        </p:nvSpPr>
        <p:spPr>
          <a:xfrm>
            <a:off x="960120" y="3017520"/>
            <a:ext cx="4480560" cy="32004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arXiv:2504.06741  ·  brain, T1 MRI</a:t>
            </a:r>
            <a:endParaRPr lang="en-US" sz="1200" dirty="0"/>
          </a:p>
        </p:txBody>
      </p:sp>
      <p:sp>
        <p:nvSpPr>
          <p:cNvPr id="9" name="Text 7"/>
          <p:cNvSpPr/>
          <p:nvPr/>
        </p:nvSpPr>
        <p:spPr>
          <a:xfrm>
            <a:off x="960120" y="3474720"/>
            <a:ext cx="4480560" cy="1097280"/>
          </a:xfrm>
          <a:prstGeom prst="rect">
            <a:avLst/>
          </a:prstGeom>
          <a:noFill/>
          <a:ln/>
        </p:spPr>
        <p:txBody>
          <a:bodyPr wrap="square" lIns="0" tIns="0" rIns="0" bIns="0" rtlCol="0" anchor="t"/>
          <a:lstStyle/>
          <a:p>
            <a:pPr indent="0" marL="0">
              <a:buNone/>
            </a:pPr>
            <a:r>
              <a:rPr lang="en-US" sz="1550" dirty="0">
                <a:solidFill>
                  <a:srgbClr val="1F2933"/>
                </a:solidFill>
                <a:latin typeface="Segoe UI" pitchFamily="34" charset="0"/>
                <a:ea typeface="Segoe UI" pitchFamily="34" charset="-122"/>
                <a:cs typeface="Segoe UI" pitchFamily="34" charset="-120"/>
              </a:rPr>
              <a:t>Warm-up to 1e-3 helped (+0.41 Dice).</a:t>
            </a:r>
            <a:endParaRPr lang="en-US" sz="1550" dirty="0"/>
          </a:p>
        </p:txBody>
      </p:sp>
      <p:sp>
        <p:nvSpPr>
          <p:cNvPr id="10" name="Shape 8"/>
          <p:cNvSpPr/>
          <p:nvPr/>
        </p:nvSpPr>
        <p:spPr>
          <a:xfrm>
            <a:off x="6400800" y="2377440"/>
            <a:ext cx="5120640" cy="2468880"/>
          </a:xfrm>
          <a:prstGeom prst="roundRect">
            <a:avLst>
              <a:gd name="adj" fmla="val 3704"/>
            </a:avLst>
          </a:prstGeom>
          <a:solidFill>
            <a:srgbClr val="F4F6F8"/>
          </a:solidFill>
          <a:ln w="12700">
            <a:solidFill>
              <a:srgbClr val="DDE3EA"/>
            </a:solidFill>
            <a:prstDash val="solid"/>
          </a:ln>
          <a:effectLst>
            <a:outerShdw sx="100000" sy="100000" kx="0" ky="0" algn="bl" rotWithShape="0" blurRad="88900" dist="38100" dir="5400000">
              <a:srgbClr val="8A97A6">
                <a:alpha val="22000"/>
              </a:srgbClr>
            </a:outerShdw>
          </a:effectLst>
        </p:spPr>
      </p:sp>
      <p:sp>
        <p:nvSpPr>
          <p:cNvPr id="11" name="Text 9"/>
          <p:cNvSpPr/>
          <p:nvPr/>
        </p:nvSpPr>
        <p:spPr>
          <a:xfrm>
            <a:off x="6720840" y="2606040"/>
            <a:ext cx="4480560" cy="411480"/>
          </a:xfrm>
          <a:prstGeom prst="rect">
            <a:avLst/>
          </a:prstGeom>
          <a:noFill/>
          <a:ln/>
        </p:spPr>
        <p:txBody>
          <a:bodyPr wrap="square" lIns="0" tIns="0" rIns="0" bIns="0" rtlCol="0" anchor="ctr"/>
          <a:lstStyle/>
          <a:p>
            <a:pPr indent="0" marL="0">
              <a:buNone/>
            </a:pPr>
            <a:r>
              <a:rPr lang="en-US" sz="1800" b="1" dirty="0">
                <a:solidFill>
                  <a:srgbClr val="5D7290"/>
                </a:solidFill>
                <a:latin typeface="Segoe UI" pitchFamily="34" charset="0"/>
                <a:ea typeface="Segoe UI" pitchFamily="34" charset="-122"/>
                <a:cs typeface="Segoe UI" pitchFamily="34" charset="-120"/>
              </a:rPr>
              <a:t>PANTHER</a:t>
            </a:r>
            <a:endParaRPr lang="en-US" sz="1800" dirty="0"/>
          </a:p>
        </p:txBody>
      </p:sp>
      <p:sp>
        <p:nvSpPr>
          <p:cNvPr id="12" name="Text 10"/>
          <p:cNvSpPr/>
          <p:nvPr/>
        </p:nvSpPr>
        <p:spPr>
          <a:xfrm>
            <a:off x="6720840" y="3017520"/>
            <a:ext cx="4480560" cy="320040"/>
          </a:xfrm>
          <a:prstGeom prst="rect">
            <a:avLst/>
          </a:prstGeom>
          <a:noFill/>
          <a:ln/>
        </p:spPr>
        <p:txBody>
          <a:bodyPr wrap="square" lIns="0" tIns="0" rIns="0" bIns="0" rtlCol="0" anchor="ctr"/>
          <a:lstStyle/>
          <a:p>
            <a:pPr indent="0" marL="0">
              <a:buNone/>
            </a:pPr>
            <a:r>
              <a:rPr lang="en-US" sz="1200" dirty="0">
                <a:solidFill>
                  <a:srgbClr val="6B7280"/>
                </a:solidFill>
                <a:latin typeface="Segoe UI" pitchFamily="34" charset="0"/>
                <a:ea typeface="Segoe UI" pitchFamily="34" charset="-122"/>
                <a:cs typeface="Segoe UI" pitchFamily="34" charset="-120"/>
              </a:rPr>
              <a:t>arXiv:2508.21775  ·  pancreas, MRI</a:t>
            </a:r>
            <a:endParaRPr lang="en-US" sz="1200" dirty="0"/>
          </a:p>
        </p:txBody>
      </p:sp>
      <p:sp>
        <p:nvSpPr>
          <p:cNvPr id="13" name="Text 11"/>
          <p:cNvSpPr/>
          <p:nvPr/>
        </p:nvSpPr>
        <p:spPr>
          <a:xfrm>
            <a:off x="6720840" y="3474720"/>
            <a:ext cx="4480560" cy="1280160"/>
          </a:xfrm>
          <a:prstGeom prst="rect">
            <a:avLst/>
          </a:prstGeom>
          <a:noFill/>
          <a:ln/>
        </p:spPr>
        <p:txBody>
          <a:bodyPr wrap="square" lIns="0" tIns="0" rIns="0" bIns="0" rtlCol="0" anchor="t"/>
          <a:lstStyle/>
          <a:p>
            <a:pPr indent="0" marL="0">
              <a:buNone/>
            </a:pPr>
            <a:r>
              <a:rPr lang="en-US" sz="1500" dirty="0">
                <a:solidFill>
                  <a:srgbClr val="1F2933"/>
                </a:solidFill>
                <a:latin typeface="Segoe UI" pitchFamily="34" charset="0"/>
                <a:ea typeface="Segoe UI" pitchFamily="34" charset="-122"/>
                <a:cs typeface="Segoe UI" pitchFamily="34" charset="-120"/>
              </a:rPr>
              <a:t>Warm-up and cosine did not beat the default poly. Wins came from multi-stage transfer, augmentation, ensembling.</a:t>
            </a:r>
            <a:endParaRPr lang="en-US" sz="1500" dirty="0"/>
          </a:p>
        </p:txBody>
      </p:sp>
      <p:sp>
        <p:nvSpPr>
          <p:cNvPr id="14" name="Text 12"/>
          <p:cNvSpPr/>
          <p:nvPr/>
        </p:nvSpPr>
        <p:spPr>
          <a:xfrm>
            <a:off x="640080" y="5074920"/>
            <a:ext cx="10607040" cy="457200"/>
          </a:xfrm>
          <a:prstGeom prst="rect">
            <a:avLst/>
          </a:prstGeom>
          <a:noFill/>
          <a:ln/>
        </p:spPr>
        <p:txBody>
          <a:bodyPr wrap="square" lIns="0" tIns="0" rIns="0" bIns="0" rtlCol="0" anchor="ctr"/>
          <a:lstStyle/>
          <a:p>
            <a:pPr algn="ctr" indent="0" marL="0">
              <a:buNone/>
            </a:pPr>
            <a:r>
              <a:rPr lang="en-US" sz="1600" i="1" dirty="0">
                <a:solidFill>
                  <a:srgbClr val="1F2933"/>
                </a:solidFill>
                <a:latin typeface="Segoe UI" pitchFamily="34" charset="0"/>
                <a:ea typeface="Segoe UI" pitchFamily="34" charset="-122"/>
                <a:cs typeface="Segoe UI" pitchFamily="34" charset="-120"/>
              </a:rPr>
              <a:t>The warm-up trick is task dependent, not a general law. Run the small ablation yourself.</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TRAINING PROTOCOL  ·  NOTEBOOK 03</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See it on a real run</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31</a:t>
            </a:r>
            <a:endParaRPr lang="en-US" sz="900" dirty="0"/>
          </a:p>
        </p:txBody>
      </p:sp>
      <p:sp>
        <p:nvSpPr>
          <p:cNvPr id="6" name="Shape 4"/>
          <p:cNvSpPr/>
          <p:nvPr/>
        </p:nvSpPr>
        <p:spPr>
          <a:xfrm>
            <a:off x="640080" y="2011680"/>
            <a:ext cx="7315200" cy="3291840"/>
          </a:xfrm>
          <a:prstGeom prst="roundRect">
            <a:avLst>
              <a:gd name="adj" fmla="val 1667"/>
            </a:avLst>
          </a:prstGeom>
          <a:solidFill>
            <a:srgbClr val="F4F6F8"/>
          </a:solidFill>
          <a:ln w="19050">
            <a:solidFill>
              <a:srgbClr val="5D7290"/>
            </a:solidFill>
            <a:prstDash val="dash"/>
          </a:ln>
        </p:spPr>
      </p:sp>
      <p:sp>
        <p:nvSpPr>
          <p:cNvPr id="7" name="Text 5"/>
          <p:cNvSpPr/>
          <p:nvPr/>
        </p:nvSpPr>
        <p:spPr>
          <a:xfrm>
            <a:off x="914400" y="3200400"/>
            <a:ext cx="6766560" cy="457200"/>
          </a:xfrm>
          <a:prstGeom prst="rect">
            <a:avLst/>
          </a:prstGeom>
          <a:noFill/>
          <a:ln/>
        </p:spPr>
        <p:txBody>
          <a:bodyPr wrap="square" lIns="0" tIns="0" rIns="0" bIns="0" rtlCol="0" anchor="ctr"/>
          <a:lstStyle/>
          <a:p>
            <a:pPr algn="ctr" indent="0" marL="0">
              <a:buNone/>
            </a:pPr>
            <a:r>
              <a:rPr lang="en-US" sz="1800" b="1" dirty="0">
                <a:solidFill>
                  <a:srgbClr val="5D7290"/>
                </a:solidFill>
                <a:latin typeface="Segoe UI" pitchFamily="34" charset="0"/>
                <a:ea typeface="Segoe UI" pitchFamily="34" charset="-122"/>
                <a:cs typeface="Segoe UI" pitchFamily="34" charset="-120"/>
              </a:rPr>
              <a:t>Real fine-tuning loss curves go here</a:t>
            </a:r>
            <a:endParaRPr lang="en-US" sz="1800" dirty="0"/>
          </a:p>
        </p:txBody>
      </p:sp>
      <p:sp>
        <p:nvSpPr>
          <p:cNvPr id="8" name="Text 6"/>
          <p:cNvSpPr/>
          <p:nvPr/>
        </p:nvSpPr>
        <p:spPr>
          <a:xfrm>
            <a:off x="914400" y="3703320"/>
            <a:ext cx="6766560" cy="548640"/>
          </a:xfrm>
          <a:prstGeom prst="rect">
            <a:avLst/>
          </a:prstGeom>
          <a:noFill/>
          <a:ln/>
        </p:spPr>
        <p:txBody>
          <a:bodyPr wrap="square" lIns="0" tIns="0" rIns="0" bIns="0" rtlCol="0" anchor="ctr"/>
          <a:lstStyle/>
          <a:p>
            <a:pPr algn="ctr" indent="0" marL="0">
              <a:buNone/>
            </a:pPr>
            <a:r>
              <a:rPr lang="en-US" sz="1300" dirty="0">
                <a:solidFill>
                  <a:srgbClr val="6B7280"/>
                </a:solidFill>
                <a:latin typeface="Segoe UI" pitchFamily="34" charset="0"/>
                <a:ea typeface="Segoe UI" pitchFamily="34" charset="-122"/>
                <a:cs typeface="Segoe UI" pitchFamily="34" charset="-120"/>
              </a:rPr>
              <a:t>default (1e-2)  vs  warm-up → 1e-3, with the epoch-50 switch marked</a:t>
            </a:r>
            <a:endParaRPr lang="en-US" sz="1300" dirty="0"/>
          </a:p>
        </p:txBody>
      </p:sp>
      <p:sp>
        <p:nvSpPr>
          <p:cNvPr id="9" name="Text 7"/>
          <p:cNvSpPr/>
          <p:nvPr/>
        </p:nvSpPr>
        <p:spPr>
          <a:xfrm>
            <a:off x="8138160" y="2148840"/>
            <a:ext cx="3383280" cy="301752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The schedule only matters once you train</a:t>
            </a:r>
            <a:endParaRPr lang="en-US" sz="1350" dirty="0"/>
          </a:p>
          <a:p>
            <a:pPr marL="203200" indent="-203200">
              <a:spcAft>
                <a:spcPts val="1000"/>
              </a:spcAft>
              <a:buSzPct val="100000"/>
              <a:buChar char="•"/>
            </a:pPr>
            <a:r>
              <a:rPr lang="en-US" sz="1350" dirty="0">
                <a:solidFill>
                  <a:srgbClr val="1F2933"/>
                </a:solidFill>
                <a:latin typeface="Segoe UI" pitchFamily="34" charset="0"/>
                <a:ea typeface="Segoe UI" pitchFamily="34" charset="-122"/>
                <a:cs typeface="Segoe UI" pitchFamily="34" charset="-120"/>
              </a:rPr>
              <a:t>NB03 plots this once you drop the exported CSV into assets/precomputed/</a:t>
            </a:r>
            <a:endParaRPr lang="en-US" sz="1350" dirty="0"/>
          </a:p>
          <a:p>
            <a:pPr marL="203200" indent="-203200">
              <a:spcAft>
                <a:spcPts val="1000"/>
              </a:spcAft>
              <a:buSzPct val="100000"/>
              <a:buChar char="•"/>
            </a:pPr>
            <a:r>
              <a:rPr lang="en-US" sz="1350" dirty="0">
                <a:solidFill>
                  <a:srgbClr val="C0392B"/>
                </a:solidFill>
                <a:latin typeface="Segoe UI" pitchFamily="34" charset="0"/>
                <a:ea typeface="Segoe UI" pitchFamily="34" charset="-122"/>
                <a:cs typeface="Segoe UI" pitchFamily="34" charset="-120"/>
              </a:rPr>
              <a:t>We do not fabricate a curve. The comparison is the point, and it needs the real runs</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AFTER FINE-TUNING  ·  NOTEBOOKS 04 TO 06</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The rest of the pipeline is standard nnU-Net</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32</a:t>
            </a:r>
            <a:endParaRPr lang="en-US" sz="900" dirty="0"/>
          </a:p>
        </p:txBody>
      </p:sp>
      <p:sp>
        <p:nvSpPr>
          <p:cNvPr id="6" name="Text 4"/>
          <p:cNvSpPr/>
          <p:nvPr/>
        </p:nvSpPr>
        <p:spPr>
          <a:xfrm>
            <a:off x="640080" y="1828800"/>
            <a:ext cx="10607040" cy="457200"/>
          </a:xfrm>
          <a:prstGeom prst="rect">
            <a:avLst/>
          </a:prstGeom>
          <a:noFill/>
          <a:ln/>
        </p:spPr>
        <p:txBody>
          <a:bodyPr wrap="square" lIns="0" tIns="0" rIns="0" bIns="0" rtlCol="0" anchor="ctr"/>
          <a:lstStyle/>
          <a:p>
            <a:pPr indent="0" marL="0">
              <a:buNone/>
            </a:pPr>
            <a:r>
              <a:rPr lang="en-US" sz="1600" dirty="0">
                <a:solidFill>
                  <a:srgbClr val="1F2933"/>
                </a:solidFill>
                <a:latin typeface="Segoe UI" pitchFamily="34" charset="0"/>
                <a:ea typeface="Segoe UI" pitchFamily="34" charset="-122"/>
                <a:cs typeface="Segoe UI" pitchFamily="34" charset="-120"/>
              </a:rPr>
              <a:t>The two fine-tuning choices are done. Everything downstream is the usual nnU-Net, unchanged.</a:t>
            </a:r>
            <a:endParaRPr lang="en-US" sz="1600" dirty="0"/>
          </a:p>
        </p:txBody>
      </p:sp>
      <p:sp>
        <p:nvSpPr>
          <p:cNvPr id="7" name="Shape 5"/>
          <p:cNvSpPr/>
          <p:nvPr/>
        </p:nvSpPr>
        <p:spPr>
          <a:xfrm>
            <a:off x="640080" y="2514600"/>
            <a:ext cx="3410712" cy="2240280"/>
          </a:xfrm>
          <a:prstGeom prst="roundRect">
            <a:avLst>
              <a:gd name="adj" fmla="val 3265"/>
            </a:avLst>
          </a:prstGeom>
          <a:solidFill>
            <a:srgbClr val="F4F6F8"/>
          </a:solidFill>
          <a:ln w="12700">
            <a:solidFill>
              <a:srgbClr val="DDE3EA"/>
            </a:solidFill>
            <a:prstDash val="solid"/>
          </a:ln>
          <a:effectLst>
            <a:outerShdw sx="100000" sy="100000" kx="0" ky="0" algn="bl" rotWithShape="0" blurRad="88900" dist="38100" dir="5400000">
              <a:srgbClr val="8A97A6">
                <a:alpha val="22000"/>
              </a:srgbClr>
            </a:outerShdw>
          </a:effectLst>
        </p:spPr>
      </p:sp>
      <p:sp>
        <p:nvSpPr>
          <p:cNvPr id="8" name="Text 6"/>
          <p:cNvSpPr/>
          <p:nvPr/>
        </p:nvSpPr>
        <p:spPr>
          <a:xfrm>
            <a:off x="914400" y="2743200"/>
            <a:ext cx="2834640" cy="457200"/>
          </a:xfrm>
          <a:prstGeom prst="rect">
            <a:avLst/>
          </a:prstGeom>
          <a:noFill/>
          <a:ln/>
        </p:spPr>
        <p:txBody>
          <a:bodyPr wrap="square" lIns="0" tIns="0" rIns="0" bIns="0" rtlCol="0" anchor="ctr"/>
          <a:lstStyle/>
          <a:p>
            <a:pPr indent="0" marL="0">
              <a:buNone/>
            </a:pPr>
            <a:r>
              <a:rPr lang="en-US" sz="1800" b="1" dirty="0">
                <a:solidFill>
                  <a:srgbClr val="E07B39"/>
                </a:solidFill>
                <a:latin typeface="Segoe UI" pitchFamily="34" charset="0"/>
                <a:ea typeface="Segoe UI" pitchFamily="34" charset="-122"/>
                <a:cs typeface="Segoe UI" pitchFamily="34" charset="-120"/>
              </a:rPr>
              <a:t>Inference</a:t>
            </a:r>
            <a:endParaRPr lang="en-US" sz="1800" dirty="0"/>
          </a:p>
        </p:txBody>
      </p:sp>
      <p:sp>
        <p:nvSpPr>
          <p:cNvPr id="9" name="Text 7"/>
          <p:cNvSpPr/>
          <p:nvPr/>
        </p:nvSpPr>
        <p:spPr>
          <a:xfrm>
            <a:off x="914400" y="3246120"/>
            <a:ext cx="2926080" cy="1097280"/>
          </a:xfrm>
          <a:prstGeom prst="rect">
            <a:avLst/>
          </a:prstGeom>
          <a:noFill/>
          <a:ln/>
        </p:spPr>
        <p:txBody>
          <a:bodyPr wrap="square" lIns="0" tIns="0" rIns="0" bIns="0" rtlCol="0" anchor="t"/>
          <a:lstStyle/>
          <a:p>
            <a:pPr indent="0" marL="0">
              <a:buNone/>
            </a:pPr>
            <a:r>
              <a:rPr lang="en-US" sz="1350" dirty="0">
                <a:solidFill>
                  <a:srgbClr val="1F2933"/>
                </a:solidFill>
                <a:latin typeface="Segoe UI" pitchFamily="34" charset="0"/>
                <a:ea typeface="Segoe UI" pitchFamily="34" charset="-122"/>
                <a:cs typeface="Segoe UI" pitchFamily="34" charset="-120"/>
              </a:rPr>
              <a:t>Sliding-window prediction + test-time mirroring.</a:t>
            </a:r>
            <a:endParaRPr lang="en-US" sz="1350" dirty="0"/>
          </a:p>
        </p:txBody>
      </p:sp>
      <p:sp>
        <p:nvSpPr>
          <p:cNvPr id="10" name="Text 8"/>
          <p:cNvSpPr/>
          <p:nvPr/>
        </p:nvSpPr>
        <p:spPr>
          <a:xfrm>
            <a:off x="914400" y="4343400"/>
            <a:ext cx="2926080" cy="320040"/>
          </a:xfrm>
          <a:prstGeom prst="rect">
            <a:avLst/>
          </a:prstGeom>
          <a:noFill/>
          <a:ln/>
        </p:spPr>
        <p:txBody>
          <a:bodyPr wrap="square" lIns="0" tIns="0" rIns="0" bIns="0" rtlCol="0" anchor="ctr"/>
          <a:lstStyle/>
          <a:p>
            <a:pPr indent="0" marL="0">
              <a:buNone/>
            </a:pPr>
            <a:r>
              <a:rPr lang="en-US" sz="1200" i="1" dirty="0">
                <a:solidFill>
                  <a:srgbClr val="6B7280"/>
                </a:solidFill>
                <a:latin typeface="Segoe UI" pitchFamily="34" charset="0"/>
                <a:ea typeface="Segoe UI" pitchFamily="34" charset="-122"/>
                <a:cs typeface="Segoe UI" pitchFamily="34" charset="-120"/>
              </a:rPr>
              <a:t>nnUNetv2_predict</a:t>
            </a:r>
            <a:endParaRPr lang="en-US" sz="1200" dirty="0"/>
          </a:p>
        </p:txBody>
      </p:sp>
      <p:sp>
        <p:nvSpPr>
          <p:cNvPr id="11" name="Shape 9"/>
          <p:cNvSpPr/>
          <p:nvPr/>
        </p:nvSpPr>
        <p:spPr>
          <a:xfrm>
            <a:off x="4233672" y="2514600"/>
            <a:ext cx="3410712" cy="2240280"/>
          </a:xfrm>
          <a:prstGeom prst="roundRect">
            <a:avLst>
              <a:gd name="adj" fmla="val 3265"/>
            </a:avLst>
          </a:prstGeom>
          <a:solidFill>
            <a:srgbClr val="F4F6F8"/>
          </a:solidFill>
          <a:ln w="12700">
            <a:solidFill>
              <a:srgbClr val="DDE3EA"/>
            </a:solidFill>
            <a:prstDash val="solid"/>
          </a:ln>
          <a:effectLst>
            <a:outerShdw sx="100000" sy="100000" kx="0" ky="0" algn="bl" rotWithShape="0" blurRad="88900" dist="38100" dir="5400000">
              <a:srgbClr val="8A97A6">
                <a:alpha val="22000"/>
              </a:srgbClr>
            </a:outerShdw>
          </a:effectLst>
        </p:spPr>
      </p:sp>
      <p:sp>
        <p:nvSpPr>
          <p:cNvPr id="12" name="Text 10"/>
          <p:cNvSpPr/>
          <p:nvPr/>
        </p:nvSpPr>
        <p:spPr>
          <a:xfrm>
            <a:off x="4507992" y="2743200"/>
            <a:ext cx="2834640" cy="457200"/>
          </a:xfrm>
          <a:prstGeom prst="rect">
            <a:avLst/>
          </a:prstGeom>
          <a:noFill/>
          <a:ln/>
        </p:spPr>
        <p:txBody>
          <a:bodyPr wrap="square" lIns="0" tIns="0" rIns="0" bIns="0" rtlCol="0" anchor="ctr"/>
          <a:lstStyle/>
          <a:p>
            <a:pPr indent="0" marL="0">
              <a:buNone/>
            </a:pPr>
            <a:r>
              <a:rPr lang="en-US" sz="1800" b="1" dirty="0">
                <a:solidFill>
                  <a:srgbClr val="E07B39"/>
                </a:solidFill>
                <a:latin typeface="Segoe UI" pitchFamily="34" charset="0"/>
                <a:ea typeface="Segoe UI" pitchFamily="34" charset="-122"/>
                <a:cs typeface="Segoe UI" pitchFamily="34" charset="-120"/>
              </a:rPr>
              <a:t>Post-processing</a:t>
            </a:r>
            <a:endParaRPr lang="en-US" sz="1800" dirty="0"/>
          </a:p>
        </p:txBody>
      </p:sp>
      <p:sp>
        <p:nvSpPr>
          <p:cNvPr id="13" name="Text 11"/>
          <p:cNvSpPr/>
          <p:nvPr/>
        </p:nvSpPr>
        <p:spPr>
          <a:xfrm>
            <a:off x="4507992" y="3246120"/>
            <a:ext cx="2926080" cy="1097280"/>
          </a:xfrm>
          <a:prstGeom prst="rect">
            <a:avLst/>
          </a:prstGeom>
          <a:noFill/>
          <a:ln/>
        </p:spPr>
        <p:txBody>
          <a:bodyPr wrap="square" lIns="0" tIns="0" rIns="0" bIns="0" rtlCol="0" anchor="t"/>
          <a:lstStyle/>
          <a:p>
            <a:pPr indent="0" marL="0">
              <a:buNone/>
            </a:pPr>
            <a:r>
              <a:rPr lang="en-US" sz="1350" dirty="0">
                <a:solidFill>
                  <a:srgbClr val="1F2933"/>
                </a:solidFill>
                <a:latin typeface="Segoe UI" pitchFamily="34" charset="0"/>
                <a:ea typeface="Segoe UI" pitchFamily="34" charset="-122"/>
                <a:cs typeface="Segoe UI" pitchFamily="34" charset="-120"/>
              </a:rPr>
              <a:t>Connected-component filtering, chosen per dataset from cross-validation.</a:t>
            </a:r>
            <a:endParaRPr lang="en-US" sz="1350" dirty="0"/>
          </a:p>
        </p:txBody>
      </p:sp>
      <p:sp>
        <p:nvSpPr>
          <p:cNvPr id="14" name="Text 12"/>
          <p:cNvSpPr/>
          <p:nvPr/>
        </p:nvSpPr>
        <p:spPr>
          <a:xfrm>
            <a:off x="4507992" y="4343400"/>
            <a:ext cx="2926080" cy="320040"/>
          </a:xfrm>
          <a:prstGeom prst="rect">
            <a:avLst/>
          </a:prstGeom>
          <a:noFill/>
          <a:ln/>
        </p:spPr>
        <p:txBody>
          <a:bodyPr wrap="square" lIns="0" tIns="0" rIns="0" bIns="0" rtlCol="0" anchor="ctr"/>
          <a:lstStyle/>
          <a:p>
            <a:pPr indent="0" marL="0">
              <a:buNone/>
            </a:pPr>
            <a:r>
              <a:rPr lang="en-US" sz="1200" i="1" dirty="0">
                <a:solidFill>
                  <a:srgbClr val="6B7280"/>
                </a:solidFill>
                <a:latin typeface="Segoe UI" pitchFamily="34" charset="0"/>
                <a:ea typeface="Segoe UI" pitchFamily="34" charset="-122"/>
                <a:cs typeface="Segoe UI" pitchFamily="34" charset="-120"/>
              </a:rPr>
              <a:t>a validated heuristic</a:t>
            </a:r>
            <a:endParaRPr lang="en-US" sz="1200" dirty="0"/>
          </a:p>
        </p:txBody>
      </p:sp>
      <p:sp>
        <p:nvSpPr>
          <p:cNvPr id="15" name="Shape 13"/>
          <p:cNvSpPr/>
          <p:nvPr/>
        </p:nvSpPr>
        <p:spPr>
          <a:xfrm>
            <a:off x="7827264" y="2514600"/>
            <a:ext cx="3410712" cy="2240280"/>
          </a:xfrm>
          <a:prstGeom prst="roundRect">
            <a:avLst>
              <a:gd name="adj" fmla="val 3265"/>
            </a:avLst>
          </a:prstGeom>
          <a:solidFill>
            <a:srgbClr val="F4F6F8"/>
          </a:solidFill>
          <a:ln w="12700">
            <a:solidFill>
              <a:srgbClr val="DDE3EA"/>
            </a:solidFill>
            <a:prstDash val="solid"/>
          </a:ln>
          <a:effectLst>
            <a:outerShdw sx="100000" sy="100000" kx="0" ky="0" algn="bl" rotWithShape="0" blurRad="88900" dist="38100" dir="5400000">
              <a:srgbClr val="8A97A6">
                <a:alpha val="22000"/>
              </a:srgbClr>
            </a:outerShdw>
          </a:effectLst>
        </p:spPr>
      </p:sp>
      <p:sp>
        <p:nvSpPr>
          <p:cNvPr id="16" name="Text 14"/>
          <p:cNvSpPr/>
          <p:nvPr/>
        </p:nvSpPr>
        <p:spPr>
          <a:xfrm>
            <a:off x="8101584" y="2743200"/>
            <a:ext cx="2834640" cy="457200"/>
          </a:xfrm>
          <a:prstGeom prst="rect">
            <a:avLst/>
          </a:prstGeom>
          <a:noFill/>
          <a:ln/>
        </p:spPr>
        <p:txBody>
          <a:bodyPr wrap="square" lIns="0" tIns="0" rIns="0" bIns="0" rtlCol="0" anchor="ctr"/>
          <a:lstStyle/>
          <a:p>
            <a:pPr indent="0" marL="0">
              <a:buNone/>
            </a:pPr>
            <a:r>
              <a:rPr lang="en-US" sz="1800" b="1" dirty="0">
                <a:solidFill>
                  <a:srgbClr val="E07B39"/>
                </a:solidFill>
                <a:latin typeface="Segoe UI" pitchFamily="34" charset="0"/>
                <a:ea typeface="Segoe UI" pitchFamily="34" charset="-122"/>
                <a:cs typeface="Segoe UI" pitchFamily="34" charset="-120"/>
              </a:rPr>
              <a:t>Evaluation</a:t>
            </a:r>
            <a:endParaRPr lang="en-US" sz="1800" dirty="0"/>
          </a:p>
        </p:txBody>
      </p:sp>
      <p:sp>
        <p:nvSpPr>
          <p:cNvPr id="17" name="Text 15"/>
          <p:cNvSpPr/>
          <p:nvPr/>
        </p:nvSpPr>
        <p:spPr>
          <a:xfrm>
            <a:off x="8101584" y="3246120"/>
            <a:ext cx="2926080" cy="1097280"/>
          </a:xfrm>
          <a:prstGeom prst="rect">
            <a:avLst/>
          </a:prstGeom>
          <a:noFill/>
          <a:ln/>
        </p:spPr>
        <p:txBody>
          <a:bodyPr wrap="square" lIns="0" tIns="0" rIns="0" bIns="0" rtlCol="0" anchor="t"/>
          <a:lstStyle/>
          <a:p>
            <a:pPr indent="0" marL="0">
              <a:buNone/>
            </a:pPr>
            <a:r>
              <a:rPr lang="en-US" sz="1350" dirty="0">
                <a:solidFill>
                  <a:srgbClr val="1F2933"/>
                </a:solidFill>
                <a:latin typeface="Segoe UI" pitchFamily="34" charset="0"/>
                <a:ea typeface="Segoe UI" pitchFamily="34" charset="-122"/>
                <a:cs typeface="Segoe UI" pitchFamily="34" charset="-120"/>
              </a:rPr>
              <a:t>Dice per label, nanmean over present classes, summary.json.</a:t>
            </a:r>
            <a:endParaRPr lang="en-US" sz="1350" dirty="0"/>
          </a:p>
        </p:txBody>
      </p:sp>
      <p:sp>
        <p:nvSpPr>
          <p:cNvPr id="18" name="Text 16"/>
          <p:cNvSpPr/>
          <p:nvPr/>
        </p:nvSpPr>
        <p:spPr>
          <a:xfrm>
            <a:off x="8101584" y="4343400"/>
            <a:ext cx="2926080" cy="320040"/>
          </a:xfrm>
          <a:prstGeom prst="rect">
            <a:avLst/>
          </a:prstGeom>
          <a:noFill/>
          <a:ln/>
        </p:spPr>
        <p:txBody>
          <a:bodyPr wrap="square" lIns="0" tIns="0" rIns="0" bIns="0" rtlCol="0" anchor="ctr"/>
          <a:lstStyle/>
          <a:p>
            <a:pPr indent="0" marL="0">
              <a:buNone/>
            </a:pPr>
            <a:r>
              <a:rPr lang="en-US" sz="1200" i="1" dirty="0">
                <a:solidFill>
                  <a:srgbClr val="6B7280"/>
                </a:solidFill>
                <a:latin typeface="Segoe UI" pitchFamily="34" charset="0"/>
                <a:ea typeface="Segoe UI" pitchFamily="34" charset="-122"/>
                <a:cs typeface="Segoe UI" pitchFamily="34" charset="-120"/>
              </a:rPr>
              <a:t>your reported number</a:t>
            </a:r>
            <a:endParaRPr lang="en-US" sz="1200" dirty="0"/>
          </a:p>
        </p:txBody>
      </p:sp>
      <p:sp>
        <p:nvSpPr>
          <p:cNvPr id="19" name="Text 17"/>
          <p:cNvSpPr/>
          <p:nvPr/>
        </p:nvSpPr>
        <p:spPr>
          <a:xfrm>
            <a:off x="640080" y="5074920"/>
            <a:ext cx="10607040" cy="457200"/>
          </a:xfrm>
          <a:prstGeom prst="rect">
            <a:avLst/>
          </a:prstGeom>
          <a:noFill/>
          <a:ln/>
        </p:spPr>
        <p:txBody>
          <a:bodyPr wrap="square" lIns="0" tIns="0" rIns="0" bIns="0" rtlCol="0" anchor="ctr"/>
          <a:lstStyle/>
          <a:p>
            <a:pPr algn="ctr" indent="0" marL="0">
              <a:buNone/>
            </a:pPr>
            <a:r>
              <a:rPr lang="en-US" sz="1450" i="1" dirty="0">
                <a:solidFill>
                  <a:srgbClr val="6B7280"/>
                </a:solidFill>
                <a:latin typeface="Segoe UI" pitchFamily="34" charset="0"/>
                <a:ea typeface="Segoe UI" pitchFamily="34" charset="-122"/>
                <a:cs typeface="Segoe UI" pitchFamily="34" charset="-120"/>
              </a:rPr>
              <a:t>Notebooks 04 to 06 demo each on a laptop (CPU) using an illustrative prediction, so there is no GPU dependency.</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2331720"/>
            <a:ext cx="10607040" cy="365760"/>
          </a:xfrm>
          <a:prstGeom prst="rect">
            <a:avLst/>
          </a:prstGeom>
          <a:noFill/>
          <a:ln/>
        </p:spPr>
        <p:txBody>
          <a:bodyPr wrap="square" lIns="0" tIns="0" rIns="0" bIns="0" rtlCol="0" anchor="ctr"/>
          <a:lstStyle/>
          <a:p>
            <a:pPr indent="0" marL="0">
              <a:buNone/>
            </a:pPr>
            <a:r>
              <a:rPr lang="en-US" sz="1300" b="1" spc="400" kern="0" dirty="0">
                <a:solidFill>
                  <a:srgbClr val="E07B39"/>
                </a:solidFill>
                <a:latin typeface="Segoe UI" pitchFamily="34" charset="0"/>
                <a:ea typeface="Segoe UI" pitchFamily="34" charset="-122"/>
                <a:cs typeface="Segoe UI" pitchFamily="34" charset="-120"/>
              </a:rPr>
              <a:t>Section 5</a:t>
            </a:r>
            <a:endParaRPr lang="en-US" sz="1300" dirty="0"/>
          </a:p>
        </p:txBody>
      </p:sp>
      <p:sp>
        <p:nvSpPr>
          <p:cNvPr id="3" name="Text 1"/>
          <p:cNvSpPr/>
          <p:nvPr/>
        </p:nvSpPr>
        <p:spPr>
          <a:xfrm>
            <a:off x="640080" y="2788920"/>
            <a:ext cx="10607040" cy="9601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Conclusion</a:t>
            </a:r>
            <a:endParaRPr lang="en-US" sz="4000" dirty="0"/>
          </a:p>
        </p:txBody>
      </p:sp>
      <p:sp>
        <p:nvSpPr>
          <p:cNvPr id="4" name="Text 2"/>
          <p:cNvSpPr/>
          <p:nvPr/>
        </p:nvSpPr>
        <p:spPr>
          <a:xfrm>
            <a:off x="640080" y="3931920"/>
            <a:ext cx="10607040" cy="457200"/>
          </a:xfrm>
          <a:prstGeom prst="rect">
            <a:avLst/>
          </a:prstGeom>
          <a:noFill/>
          <a:ln/>
        </p:spPr>
        <p:txBody>
          <a:bodyPr wrap="square" lIns="0" tIns="0" rIns="0" bIns="0" rtlCol="0" anchor="ctr"/>
          <a:lstStyle/>
          <a:p>
            <a:pPr indent="0" marL="0">
              <a:buNone/>
            </a:pPr>
            <a:r>
              <a:rPr lang="en-US" sz="1700" dirty="0">
                <a:solidFill>
                  <a:srgbClr val="9AA6B2"/>
                </a:solidFill>
                <a:latin typeface="Segoe UI" pitchFamily="34" charset="0"/>
                <a:ea typeface="Segoe UI" pitchFamily="34" charset="-122"/>
                <a:cs typeface="Segoe UI" pitchFamily="34" charset="-120"/>
              </a:rPr>
              <a:t>Recap, pitfalls, and when to use this</a:t>
            </a:r>
            <a:endParaRPr lang="en-US" sz="17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9AA6B2"/>
                </a:solidFill>
                <a:latin typeface="Segoe UI" pitchFamily="34" charset="0"/>
                <a:ea typeface="Segoe UI" pitchFamily="34" charset="-122"/>
                <a:cs typeface="Segoe U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CONCLUSION</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Recap: three aligned choices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34</a:t>
            </a:r>
            <a:endParaRPr lang="en-US" sz="900" dirty="0"/>
          </a:p>
        </p:txBody>
      </p:sp>
      <p:sp>
        <p:nvSpPr>
          <p:cNvPr id="6" name="Text 4"/>
          <p:cNvSpPr/>
          <p:nvPr/>
        </p:nvSpPr>
        <p:spPr>
          <a:xfrm>
            <a:off x="640080" y="1737360"/>
            <a:ext cx="10607040" cy="365760"/>
          </a:xfrm>
          <a:prstGeom prst="rect">
            <a:avLst/>
          </a:prstGeom>
          <a:noFill/>
          <a:ln/>
        </p:spPr>
        <p:txBody>
          <a:bodyPr wrap="square" lIns="0" tIns="0" rIns="0" bIns="0" rtlCol="0" anchor="ctr"/>
          <a:lstStyle/>
          <a:p>
            <a:pPr indent="0" marL="0">
              <a:buNone/>
            </a:pPr>
            <a:r>
              <a:rPr lang="en-US" sz="1500" i="1" dirty="0">
                <a:solidFill>
                  <a:srgbClr val="6B7280"/>
                </a:solidFill>
                <a:latin typeface="Segoe UI" pitchFamily="34" charset="0"/>
                <a:ea typeface="Segoe UI" pitchFamily="34" charset="-122"/>
                <a:cs typeface="Segoe UI" pitchFamily="34" charset="-120"/>
              </a:rPr>
              <a:t>If you remember one slide, this is it. These three must agree.</a:t>
            </a:r>
            <a:endParaRPr lang="en-US" sz="1500" dirty="0"/>
          </a:p>
        </p:txBody>
      </p:sp>
      <p:sp>
        <p:nvSpPr>
          <p:cNvPr id="7" name="Shape 5"/>
          <p:cNvSpPr/>
          <p:nvPr/>
        </p:nvSpPr>
        <p:spPr>
          <a:xfrm>
            <a:off x="1005840" y="2331720"/>
            <a:ext cx="566928" cy="566928"/>
          </a:xfrm>
          <a:prstGeom prst="ellipse">
            <a:avLst/>
          </a:prstGeom>
          <a:solidFill>
            <a:srgbClr val="E07B39"/>
          </a:solidFill>
          <a:ln/>
        </p:spPr>
      </p:sp>
      <p:sp>
        <p:nvSpPr>
          <p:cNvPr id="8" name="Text 6"/>
          <p:cNvSpPr/>
          <p:nvPr/>
        </p:nvSpPr>
        <p:spPr>
          <a:xfrm>
            <a:off x="1005840" y="23317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9" name="Text 7"/>
          <p:cNvSpPr/>
          <p:nvPr/>
        </p:nvSpPr>
        <p:spPr>
          <a:xfrm>
            <a:off x="1847088" y="2276856"/>
            <a:ext cx="9217152" cy="384048"/>
          </a:xfrm>
          <a:prstGeom prst="rect">
            <a:avLst/>
          </a:prstGeom>
          <a:noFill/>
          <a:ln/>
        </p:spPr>
        <p:txBody>
          <a:bodyPr wrap="square" lIns="0" tIns="0" rIns="0" bIns="0" rtlCol="0" anchor="ctr"/>
          <a:lstStyle/>
          <a:p>
            <a:pPr indent="0" marL="0">
              <a:buNone/>
            </a:pPr>
            <a:r>
              <a:rPr lang="en-US" sz="1900" b="1" dirty="0">
                <a:solidFill>
                  <a:srgbClr val="1F2933"/>
                </a:solidFill>
                <a:latin typeface="Segoe UI" pitchFamily="34" charset="0"/>
                <a:ea typeface="Segoe UI" pitchFamily="34" charset="-122"/>
                <a:cs typeface="Segoe UI" pitchFamily="34" charset="-120"/>
              </a:rPr>
              <a:t>Match the preprocessing</a:t>
            </a:r>
            <a:endParaRPr lang="en-US" sz="1900" dirty="0"/>
          </a:p>
        </p:txBody>
      </p:sp>
      <p:sp>
        <p:nvSpPr>
          <p:cNvPr id="10" name="Text 8"/>
          <p:cNvSpPr/>
          <p:nvPr/>
        </p:nvSpPr>
        <p:spPr>
          <a:xfrm>
            <a:off x="1847088" y="2697480"/>
            <a:ext cx="9217152" cy="457200"/>
          </a:xfrm>
          <a:prstGeom prst="rect">
            <a:avLst/>
          </a:prstGeom>
          <a:noFill/>
          <a:ln/>
        </p:spPr>
        <p:txBody>
          <a:bodyPr wrap="square" lIns="0" tIns="0" rIns="0" bIns="0" rtlCol="0" anchor="t"/>
          <a:lstStyle/>
          <a:p>
            <a:pPr indent="0" marL="0">
              <a:buNone/>
            </a:pPr>
            <a:r>
              <a:rPr lang="en-US" sz="1350" dirty="0">
                <a:solidFill>
                  <a:srgbClr val="6B7280"/>
                </a:solidFill>
                <a:latin typeface="Segoe UI" pitchFamily="34" charset="0"/>
                <a:ea typeface="Segoe UI" pitchFamily="34" charset="-122"/>
                <a:cs typeface="Segoe UI" pitchFamily="34" charset="-120"/>
              </a:rPr>
              <a:t>1 mm isotropic + Z-score, via the moved plans.</a:t>
            </a:r>
            <a:endParaRPr lang="en-US" sz="1350" dirty="0"/>
          </a:p>
        </p:txBody>
      </p:sp>
      <p:sp>
        <p:nvSpPr>
          <p:cNvPr id="11" name="Shape 9"/>
          <p:cNvSpPr/>
          <p:nvPr/>
        </p:nvSpPr>
        <p:spPr>
          <a:xfrm>
            <a:off x="1005840" y="3474720"/>
            <a:ext cx="566928" cy="566928"/>
          </a:xfrm>
          <a:prstGeom prst="ellipse">
            <a:avLst/>
          </a:prstGeom>
          <a:solidFill>
            <a:srgbClr val="E07B39"/>
          </a:solidFill>
          <a:ln/>
        </p:spPr>
      </p:sp>
      <p:sp>
        <p:nvSpPr>
          <p:cNvPr id="12" name="Text 10"/>
          <p:cNvSpPr/>
          <p:nvPr/>
        </p:nvSpPr>
        <p:spPr>
          <a:xfrm>
            <a:off x="1005840" y="34747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3" name="Text 11"/>
          <p:cNvSpPr/>
          <p:nvPr/>
        </p:nvSpPr>
        <p:spPr>
          <a:xfrm>
            <a:off x="1847088" y="3419856"/>
            <a:ext cx="9217152" cy="384048"/>
          </a:xfrm>
          <a:prstGeom prst="rect">
            <a:avLst/>
          </a:prstGeom>
          <a:noFill/>
          <a:ln/>
        </p:spPr>
        <p:txBody>
          <a:bodyPr wrap="square" lIns="0" tIns="0" rIns="0" bIns="0" rtlCol="0" anchor="ctr"/>
          <a:lstStyle/>
          <a:p>
            <a:pPr indent="0" marL="0">
              <a:buNone/>
            </a:pPr>
            <a:r>
              <a:rPr lang="en-US" sz="1900" b="1" dirty="0">
                <a:solidFill>
                  <a:srgbClr val="1F2933"/>
                </a:solidFill>
                <a:latin typeface="Segoe UI" pitchFamily="34" charset="0"/>
                <a:ea typeface="Segoe UI" pitchFamily="34" charset="-122"/>
                <a:cs typeface="Segoe UI" pitchFamily="34" charset="-120"/>
              </a:rPr>
              <a:t>Transfer the body, re-initialize the heads</a:t>
            </a:r>
            <a:endParaRPr lang="en-US" sz="1900" dirty="0"/>
          </a:p>
        </p:txBody>
      </p:sp>
      <p:sp>
        <p:nvSpPr>
          <p:cNvPr id="14" name="Text 12"/>
          <p:cNvSpPr/>
          <p:nvPr/>
        </p:nvSpPr>
        <p:spPr>
          <a:xfrm>
            <a:off x="1847088" y="3840480"/>
            <a:ext cx="9217152" cy="457200"/>
          </a:xfrm>
          <a:prstGeom prst="rect">
            <a:avLst/>
          </a:prstGeom>
          <a:noFill/>
          <a:ln/>
        </p:spPr>
        <p:txBody>
          <a:bodyPr wrap="square" lIns="0" tIns="0" rIns="0" bIns="0" rtlCol="0" anchor="t"/>
          <a:lstStyle/>
          <a:p>
            <a:pPr indent="0" marL="0">
              <a:buNone/>
            </a:pPr>
            <a:r>
              <a:rPr lang="en-US" sz="1350" dirty="0">
                <a:solidFill>
                  <a:srgbClr val="6B7280"/>
                </a:solidFill>
                <a:latin typeface="Segoe UI" pitchFamily="34" charset="0"/>
                <a:ea typeface="Segoe UI" pitchFamily="34" charset="-122"/>
                <a:cs typeface="Segoe UI" pitchFamily="34" charset="-120"/>
              </a:rPr>
              <a:t>Encoder + decoder body load; all deep-supervision seg_layers re-init.</a:t>
            </a:r>
            <a:endParaRPr lang="en-US" sz="1350" dirty="0"/>
          </a:p>
        </p:txBody>
      </p:sp>
      <p:sp>
        <p:nvSpPr>
          <p:cNvPr id="15" name="Shape 13"/>
          <p:cNvSpPr/>
          <p:nvPr/>
        </p:nvSpPr>
        <p:spPr>
          <a:xfrm>
            <a:off x="1005840" y="4617720"/>
            <a:ext cx="566928" cy="566928"/>
          </a:xfrm>
          <a:prstGeom prst="ellipse">
            <a:avLst/>
          </a:prstGeom>
          <a:solidFill>
            <a:srgbClr val="E07B39"/>
          </a:solidFill>
          <a:ln/>
        </p:spPr>
      </p:sp>
      <p:sp>
        <p:nvSpPr>
          <p:cNvPr id="16" name="Text 14"/>
          <p:cNvSpPr/>
          <p:nvPr/>
        </p:nvSpPr>
        <p:spPr>
          <a:xfrm>
            <a:off x="1005840" y="46177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7" name="Text 15"/>
          <p:cNvSpPr/>
          <p:nvPr/>
        </p:nvSpPr>
        <p:spPr>
          <a:xfrm>
            <a:off x="1847088" y="4562856"/>
            <a:ext cx="9217152" cy="384048"/>
          </a:xfrm>
          <a:prstGeom prst="rect">
            <a:avLst/>
          </a:prstGeom>
          <a:noFill/>
          <a:ln/>
        </p:spPr>
        <p:txBody>
          <a:bodyPr wrap="square" lIns="0" tIns="0" rIns="0" bIns="0" rtlCol="0" anchor="ctr"/>
          <a:lstStyle/>
          <a:p>
            <a:pPr indent="0" marL="0">
              <a:buNone/>
            </a:pPr>
            <a:r>
              <a:rPr lang="en-US" sz="1900" b="1" dirty="0">
                <a:solidFill>
                  <a:srgbClr val="1F2933"/>
                </a:solidFill>
                <a:latin typeface="Segoe UI" pitchFamily="34" charset="0"/>
                <a:ea typeface="Segoe UI" pitchFamily="34" charset="-122"/>
                <a:cs typeface="Segoe UI" pitchFamily="34" charset="-120"/>
              </a:rPr>
              <a:t>Two-phase learning-rate schedule</a:t>
            </a:r>
            <a:endParaRPr lang="en-US" sz="1900" dirty="0"/>
          </a:p>
        </p:txBody>
      </p:sp>
      <p:sp>
        <p:nvSpPr>
          <p:cNvPr id="18" name="Text 16"/>
          <p:cNvSpPr/>
          <p:nvPr/>
        </p:nvSpPr>
        <p:spPr>
          <a:xfrm>
            <a:off x="1847088" y="4983480"/>
            <a:ext cx="9217152" cy="457200"/>
          </a:xfrm>
          <a:prstGeom prst="rect">
            <a:avLst/>
          </a:prstGeom>
          <a:noFill/>
          <a:ln/>
        </p:spPr>
        <p:txBody>
          <a:bodyPr wrap="square" lIns="0" tIns="0" rIns="0" bIns="0" rtlCol="0" anchor="t"/>
          <a:lstStyle/>
          <a:p>
            <a:pPr indent="0" marL="0">
              <a:buNone/>
            </a:pPr>
            <a:r>
              <a:rPr lang="en-US" sz="1350" dirty="0">
                <a:solidFill>
                  <a:srgbClr val="6B7280"/>
                </a:solidFill>
                <a:latin typeface="Segoe UI" pitchFamily="34" charset="0"/>
                <a:ea typeface="Segoe UI" pitchFamily="34" charset="-122"/>
                <a:cs typeface="Segoe UI" pitchFamily="34" charset="-120"/>
              </a:rPr>
              <a:t>Linear warm-up to 1e-3, then poly decay.</a:t>
            </a:r>
            <a:endParaRPr lang="en-US" sz="1350" dirty="0"/>
          </a:p>
        </p:txBody>
      </p:sp>
      <p:sp>
        <p:nvSpPr>
          <p:cNvPr id="19" name="Text 17"/>
          <p:cNvSpPr/>
          <p:nvPr/>
        </p:nvSpPr>
        <p:spPr>
          <a:xfrm>
            <a:off x="640080" y="5440680"/>
            <a:ext cx="10607040" cy="411480"/>
          </a:xfrm>
          <a:prstGeom prst="rect">
            <a:avLst/>
          </a:prstGeom>
          <a:noFill/>
          <a:ln/>
        </p:spPr>
        <p:txBody>
          <a:bodyPr wrap="square" lIns="0" tIns="0" rIns="0" bIns="0" rtlCol="0" anchor="ctr"/>
          <a:lstStyle/>
          <a:p>
            <a:pPr algn="ctr" indent="0" marL="0">
              <a:buNone/>
            </a:pPr>
            <a:r>
              <a:rPr lang="en-US" sz="1600" b="1" dirty="0">
                <a:solidFill>
                  <a:srgbClr val="1F2933"/>
                </a:solidFill>
                <a:latin typeface="Segoe UI" pitchFamily="34" charset="0"/>
                <a:ea typeface="Segoe UI" pitchFamily="34" charset="-122"/>
                <a:cs typeface="Segoe UI" pitchFamily="34" charset="-120"/>
              </a:rPr>
              <a:t>Throughout, the whole network trains. No part is ever frozen.</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20624"/>
            <a:ext cx="10911535" cy="274320"/>
          </a:xfrm>
          <a:prstGeom prst="rect">
            <a:avLst/>
          </a:prstGeom>
          <a:noFill/>
          <a:ln/>
        </p:spPr>
        <p:txBody>
          <a:bodyPr wrap="square" lIns="0" tIns="0" rIns="0" bIns="0" rtlCol="0" anchor="ctr"/>
          <a:lstStyle/>
          <a:p>
            <a:pPr indent="0" marL="0">
              <a:buNone/>
            </a:pPr>
            <a:r>
              <a:rPr lang="en-US" sz="1100" b="1" spc="300" kern="0" dirty="0">
                <a:solidFill>
                  <a:srgbClr val="E07B39"/>
                </a:solidFill>
                <a:latin typeface="Segoe UI" pitchFamily="34" charset="0"/>
                <a:ea typeface="Segoe UI" pitchFamily="34" charset="-122"/>
                <a:cs typeface="Segoe UI" pitchFamily="34" charset="-120"/>
              </a:rPr>
              <a:t>CONCLUSION</a:t>
            </a:r>
            <a:endParaRPr lang="en-US" sz="1100" dirty="0"/>
          </a:p>
        </p:txBody>
      </p:sp>
      <p:sp>
        <p:nvSpPr>
          <p:cNvPr id="3" name="Text 1"/>
          <p:cNvSpPr/>
          <p:nvPr/>
        </p:nvSpPr>
        <p:spPr>
          <a:xfrm>
            <a:off x="640080" y="749808"/>
            <a:ext cx="10911535" cy="777240"/>
          </a:xfrm>
          <a:prstGeom prst="rect">
            <a:avLst/>
          </a:prstGeom>
          <a:noFill/>
          <a:ln/>
        </p:spPr>
        <p:txBody>
          <a:bodyPr wrap="square" lIns="0" tIns="0" rIns="0" bIns="0" rtlCol="0" anchor="ctr"/>
          <a:lstStyle/>
          <a:p>
            <a:pPr indent="0" marL="0">
              <a:buNone/>
            </a:pPr>
            <a:r>
              <a:rPr lang="en-US" sz="2800" b="1" dirty="0">
                <a:solidFill>
                  <a:srgbClr val="1F2933"/>
                </a:solidFill>
                <a:latin typeface="Segoe UI" pitchFamily="34" charset="0"/>
                <a:ea typeface="Segoe UI" pitchFamily="34" charset="-122"/>
                <a:cs typeface="Segoe UI" pitchFamily="34" charset="-120"/>
              </a:rPr>
              <a:t>Pitfalls and when to use this</a:t>
            </a:r>
            <a:endParaRPr lang="en-US" sz="2800" dirty="0"/>
          </a:p>
        </p:txBody>
      </p:sp>
      <p:sp>
        <p:nvSpPr>
          <p:cNvPr id="4" name="Text 2"/>
          <p:cNvSpPr/>
          <p:nvPr/>
        </p:nvSpPr>
        <p:spPr>
          <a:xfrm>
            <a:off x="640080" y="6400800"/>
            <a:ext cx="6400800" cy="274320"/>
          </a:xfrm>
          <a:prstGeom prst="rect">
            <a:avLst/>
          </a:prstGeom>
          <a:noFill/>
          <a:ln/>
        </p:spPr>
        <p:txBody>
          <a:bodyPr wrap="square" lIns="0" tIns="0" rIns="0" bIns="0" rtlCol="0" anchor="ctr"/>
          <a:lstStyle/>
          <a:p>
            <a:pPr indent="0" marL="0">
              <a:buNone/>
            </a:pPr>
            <a:r>
              <a:rPr lang="en-US" sz="900" dirty="0">
                <a:solidFill>
                  <a:srgbClr val="6B7280"/>
                </a:solidFill>
                <a:latin typeface="Segoe UI" pitchFamily="34" charset="0"/>
                <a:ea typeface="Segoe UI" pitchFamily="34" charset="-122"/>
                <a:cs typeface="Segoe UI" pitchFamily="34" charset="-120"/>
              </a:rPr>
              <a:t>Fine-tuning nnU-Net  ·  two-phase LR schedule</a:t>
            </a:r>
            <a:endParaRPr lang="en-US" sz="900" dirty="0"/>
          </a:p>
        </p:txBody>
      </p:sp>
      <p:sp>
        <p:nvSpPr>
          <p:cNvPr id="5" name="Text 3"/>
          <p:cNvSpPr/>
          <p:nvPr/>
        </p:nvSpPr>
        <p:spPr>
          <a:xfrm>
            <a:off x="11002975" y="640080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Segoe UI" pitchFamily="34" charset="0"/>
                <a:ea typeface="Segoe UI" pitchFamily="34" charset="-122"/>
                <a:cs typeface="Segoe UI" pitchFamily="34" charset="-120"/>
              </a:rPr>
              <a:t>35</a:t>
            </a:r>
            <a:endParaRPr lang="en-US" sz="900" dirty="0"/>
          </a:p>
        </p:txBody>
      </p:sp>
      <p:sp>
        <p:nvSpPr>
          <p:cNvPr id="6" name="Text 4"/>
          <p:cNvSpPr/>
          <p:nvPr/>
        </p:nvSpPr>
        <p:spPr>
          <a:xfrm>
            <a:off x="640080" y="1828800"/>
            <a:ext cx="10607040" cy="457200"/>
          </a:xfrm>
          <a:prstGeom prst="rect">
            <a:avLst/>
          </a:prstGeom>
          <a:noFill/>
          <a:ln/>
        </p:spPr>
        <p:txBody>
          <a:bodyPr wrap="square" lIns="0" tIns="0" rIns="0" bIns="0" rtlCol="0" anchor="ctr"/>
          <a:lstStyle/>
          <a:p>
            <a:pPr indent="0" marL="0">
              <a:buNone/>
            </a:pPr>
            <a:r>
              <a:rPr lang="en-US" sz="1600" dirty="0">
                <a:solidFill>
                  <a:srgbClr val="1F2933"/>
                </a:solidFill>
                <a:latin typeface="Segoe UI" pitchFamily="34" charset="0"/>
                <a:ea typeface="Segoe UI" pitchFamily="34" charset="-122"/>
                <a:cs typeface="Segoe UI" pitchFamily="34" charset="-120"/>
              </a:rPr>
              <a:t>When to use it: adapting a strong pretrained medical model to a new, small-data task.</a:t>
            </a:r>
            <a:endParaRPr lang="en-US" sz="1600" dirty="0"/>
          </a:p>
        </p:txBody>
      </p:sp>
      <p:sp>
        <p:nvSpPr>
          <p:cNvPr id="7" name="Shape 5"/>
          <p:cNvSpPr/>
          <p:nvPr/>
        </p:nvSpPr>
        <p:spPr>
          <a:xfrm>
            <a:off x="822960" y="2514600"/>
            <a:ext cx="411480" cy="411480"/>
          </a:xfrm>
          <a:prstGeom prst="ellipse">
            <a:avLst/>
          </a:prstGeom>
          <a:solidFill>
            <a:srgbClr val="E07B39"/>
          </a:solidFill>
          <a:ln/>
        </p:spPr>
      </p:sp>
      <p:sp>
        <p:nvSpPr>
          <p:cNvPr id="8" name="Text 6"/>
          <p:cNvSpPr/>
          <p:nvPr/>
        </p:nvSpPr>
        <p:spPr>
          <a:xfrm>
            <a:off x="822960" y="2514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9" name="Text 7"/>
          <p:cNvSpPr/>
          <p:nvPr/>
        </p:nvSpPr>
        <p:spPr>
          <a:xfrm>
            <a:off x="1417320" y="2514600"/>
            <a:ext cx="9601200" cy="411480"/>
          </a:xfrm>
          <a:prstGeom prst="rect">
            <a:avLst/>
          </a:prstGeom>
          <a:noFill/>
          <a:ln/>
        </p:spPr>
        <p:txBody>
          <a:bodyPr wrap="square" lIns="0" tIns="0" rIns="0" bIns="0" rtlCol="0" anchor="ctr"/>
          <a:lstStyle/>
          <a:p>
            <a:pPr indent="0" marL="0">
              <a:buNone/>
            </a:pPr>
            <a:r>
              <a:rPr lang="en-US" sz="1650" dirty="0">
                <a:solidFill>
                  <a:srgbClr val="1F2933"/>
                </a:solidFill>
                <a:latin typeface="Segoe UI" pitchFamily="34" charset="0"/>
                <a:ea typeface="Segoe UI" pitchFamily="34" charset="-122"/>
                <a:cs typeface="Segoe UI" pitchFamily="34" charset="-120"/>
              </a:rPr>
              <a:t>Peak LR 1e-3, not 1e-2</a:t>
            </a:r>
            <a:endParaRPr lang="en-US" sz="1650" dirty="0"/>
          </a:p>
        </p:txBody>
      </p:sp>
      <p:sp>
        <p:nvSpPr>
          <p:cNvPr id="10" name="Shape 8"/>
          <p:cNvSpPr/>
          <p:nvPr/>
        </p:nvSpPr>
        <p:spPr>
          <a:xfrm>
            <a:off x="822960" y="3136392"/>
            <a:ext cx="411480" cy="411480"/>
          </a:xfrm>
          <a:prstGeom prst="ellipse">
            <a:avLst/>
          </a:prstGeom>
          <a:solidFill>
            <a:srgbClr val="E07B39"/>
          </a:solidFill>
          <a:ln/>
        </p:spPr>
      </p:sp>
      <p:sp>
        <p:nvSpPr>
          <p:cNvPr id="11" name="Text 9"/>
          <p:cNvSpPr/>
          <p:nvPr/>
        </p:nvSpPr>
        <p:spPr>
          <a:xfrm>
            <a:off x="822960" y="31363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12" name="Text 10"/>
          <p:cNvSpPr/>
          <p:nvPr/>
        </p:nvSpPr>
        <p:spPr>
          <a:xfrm>
            <a:off x="1417320" y="3136392"/>
            <a:ext cx="9601200" cy="411480"/>
          </a:xfrm>
          <a:prstGeom prst="rect">
            <a:avLst/>
          </a:prstGeom>
          <a:noFill/>
          <a:ln/>
        </p:spPr>
        <p:txBody>
          <a:bodyPr wrap="square" lIns="0" tIns="0" rIns="0" bIns="0" rtlCol="0" anchor="ctr"/>
          <a:lstStyle/>
          <a:p>
            <a:pPr indent="0" marL="0">
              <a:buNone/>
            </a:pPr>
            <a:r>
              <a:rPr lang="en-US" sz="1650" dirty="0">
                <a:solidFill>
                  <a:srgbClr val="1F2933"/>
                </a:solidFill>
                <a:latin typeface="Segoe UI" pitchFamily="34" charset="0"/>
                <a:ea typeface="Segoe UI" pitchFamily="34" charset="-122"/>
                <a:cs typeface="Segoe UI" pitchFamily="34" charset="-120"/>
              </a:rPr>
              <a:t>Match preprocessing first</a:t>
            </a:r>
            <a:endParaRPr lang="en-US" sz="1650" dirty="0"/>
          </a:p>
        </p:txBody>
      </p:sp>
      <p:sp>
        <p:nvSpPr>
          <p:cNvPr id="13" name="Shape 11"/>
          <p:cNvSpPr/>
          <p:nvPr/>
        </p:nvSpPr>
        <p:spPr>
          <a:xfrm>
            <a:off x="822960" y="3758184"/>
            <a:ext cx="411480" cy="411480"/>
          </a:xfrm>
          <a:prstGeom prst="ellipse">
            <a:avLst/>
          </a:prstGeom>
          <a:solidFill>
            <a:srgbClr val="E07B39"/>
          </a:solidFill>
          <a:ln/>
        </p:spPr>
      </p:sp>
      <p:sp>
        <p:nvSpPr>
          <p:cNvPr id="14" name="Text 12"/>
          <p:cNvSpPr/>
          <p:nvPr/>
        </p:nvSpPr>
        <p:spPr>
          <a:xfrm>
            <a:off x="822960" y="37581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15" name="Text 13"/>
          <p:cNvSpPr/>
          <p:nvPr/>
        </p:nvSpPr>
        <p:spPr>
          <a:xfrm>
            <a:off x="1417320" y="3758184"/>
            <a:ext cx="9601200" cy="411480"/>
          </a:xfrm>
          <a:prstGeom prst="rect">
            <a:avLst/>
          </a:prstGeom>
          <a:noFill/>
          <a:ln/>
        </p:spPr>
        <p:txBody>
          <a:bodyPr wrap="square" lIns="0" tIns="0" rIns="0" bIns="0" rtlCol="0" anchor="ctr"/>
          <a:lstStyle/>
          <a:p>
            <a:pPr indent="0" marL="0">
              <a:buNone/>
            </a:pPr>
            <a:r>
              <a:rPr lang="en-US" sz="1650" dirty="0">
                <a:solidFill>
                  <a:srgbClr val="1F2933"/>
                </a:solidFill>
                <a:latin typeface="Segoe UI" pitchFamily="34" charset="0"/>
                <a:ea typeface="Segoe UI" pitchFamily="34" charset="-122"/>
                <a:cs typeface="Segoe UI" pitchFamily="34" charset="-120"/>
              </a:rPr>
              <a:t>Ablate warm-up per task (the gain is not guaranteed)</a:t>
            </a:r>
            <a:endParaRPr lang="en-US" sz="1650" dirty="0"/>
          </a:p>
        </p:txBody>
      </p:sp>
      <p:sp>
        <p:nvSpPr>
          <p:cNvPr id="16" name="Shape 14"/>
          <p:cNvSpPr/>
          <p:nvPr/>
        </p:nvSpPr>
        <p:spPr>
          <a:xfrm>
            <a:off x="822960" y="4379976"/>
            <a:ext cx="411480" cy="411480"/>
          </a:xfrm>
          <a:prstGeom prst="ellipse">
            <a:avLst/>
          </a:prstGeom>
          <a:solidFill>
            <a:srgbClr val="E07B39"/>
          </a:solidFill>
          <a:ln/>
        </p:spPr>
      </p:sp>
      <p:sp>
        <p:nvSpPr>
          <p:cNvPr id="17" name="Text 15"/>
          <p:cNvSpPr/>
          <p:nvPr/>
        </p:nvSpPr>
        <p:spPr>
          <a:xfrm>
            <a:off x="822960" y="437997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p>
        </p:txBody>
      </p:sp>
      <p:sp>
        <p:nvSpPr>
          <p:cNvPr id="18" name="Text 16"/>
          <p:cNvSpPr/>
          <p:nvPr/>
        </p:nvSpPr>
        <p:spPr>
          <a:xfrm>
            <a:off x="1417320" y="4379976"/>
            <a:ext cx="9601200" cy="411480"/>
          </a:xfrm>
          <a:prstGeom prst="rect">
            <a:avLst/>
          </a:prstGeom>
          <a:noFill/>
          <a:ln/>
        </p:spPr>
        <p:txBody>
          <a:bodyPr wrap="square" lIns="0" tIns="0" rIns="0" bIns="0" rtlCol="0" anchor="ctr"/>
          <a:lstStyle/>
          <a:p>
            <a:pPr indent="0" marL="0">
              <a:buNone/>
            </a:pPr>
            <a:r>
              <a:rPr lang="en-US" sz="1650" dirty="0">
                <a:solidFill>
                  <a:srgbClr val="1F2933"/>
                </a:solidFill>
                <a:latin typeface="Segoe UI" pitchFamily="34" charset="0"/>
                <a:ea typeface="Segoe UI" pitchFamily="34" charset="-122"/>
                <a:cs typeface="Segoe UI" pitchFamily="34" charset="-120"/>
              </a:rPr>
              <a:t>Remember the deep-supervision heads (all seg_layers)</a:t>
            </a:r>
            <a:endParaRPr lang="en-US" sz="1650" dirty="0"/>
          </a:p>
        </p:txBody>
      </p:sp>
      <p:sp>
        <p:nvSpPr>
          <p:cNvPr id="19" name="Text 17"/>
          <p:cNvSpPr/>
          <p:nvPr/>
        </p:nvSpPr>
        <p:spPr>
          <a:xfrm>
            <a:off x="640080" y="5349240"/>
            <a:ext cx="10607040" cy="365760"/>
          </a:xfrm>
          <a:prstGeom prst="rect">
            <a:avLst/>
          </a:prstGeom>
          <a:noFill/>
          <a:ln/>
        </p:spPr>
        <p:txBody>
          <a:bodyPr wrap="square" lIns="0" tIns="0" rIns="0" bIns="0" rtlCol="0" anchor="ctr"/>
          <a:lstStyle/>
          <a:p>
            <a:pPr algn="l" indent="0" marL="0">
              <a:buNone/>
            </a:pPr>
            <a:r>
              <a:rPr lang="en-US" sz="1100" i="1" dirty="0">
                <a:solidFill>
                  <a:srgbClr val="6B7280"/>
                </a:solidFill>
                <a:latin typeface="Segoe UI" pitchFamily="34" charset="0"/>
                <a:ea typeface="Segoe UI" pitchFamily="34" charset="-122"/>
                <a:cs typeface="Segoe UI" pitchFamily="34" charset="-120"/>
              </a:rPr>
              <a:t>Pointers: TBI (arXiv:2504.06741), PANTHER (arXiv:2508.21775), MultiTalent (arXiv:2303.14444), the nnU-Net fine-tuning docs, and this repo's notebooks.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F2933"/>
        </a:solidFill>
      </p:bgPr>
    </p:bg>
    <p:spTree>
      <p:nvGrpSpPr>
        <p:cNvPr id="1" name=""/>
        <p:cNvGrpSpPr/>
        <p:nvPr/>
      </p:nvGrpSpPr>
      <p:grpSpPr>
        <a:xfrm>
          <a:off x="0" y="0"/>
          <a:ext cx="0" cy="0"/>
          <a:chOff x="0" y="0"/>
          <a:chExt cx="0" cy="0"/>
        </a:xfrm>
      </p:grpSpPr>
      <p:sp>
        <p:nvSpPr>
          <p:cNvPr id="2" name="Text 0"/>
          <p:cNvSpPr/>
          <p:nvPr/>
        </p:nvSpPr>
        <p:spPr>
          <a:xfrm>
            <a:off x="640080" y="1828800"/>
            <a:ext cx="6583680" cy="1097280"/>
          </a:xfrm>
          <a:prstGeom prst="rect">
            <a:avLst/>
          </a:prstGeom>
          <a:noFill/>
          <a:ln/>
        </p:spPr>
        <p:txBody>
          <a:bodyPr wrap="square" lIns="0" tIns="0" rIns="0" bIns="0"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Questions?</a:t>
            </a:r>
            <a:endParaRPr lang="en-US" sz="4800" dirty="0"/>
          </a:p>
        </p:txBody>
      </p:sp>
      <p:sp>
        <p:nvSpPr>
          <p:cNvPr id="3" name="Text 1"/>
          <p:cNvSpPr/>
          <p:nvPr/>
        </p:nvSpPr>
        <p:spPr>
          <a:xfrm>
            <a:off x="640080" y="3200400"/>
            <a:ext cx="6583680" cy="457200"/>
          </a:xfrm>
          <a:prstGeom prst="rect">
            <a:avLst/>
          </a:prstGeom>
          <a:noFill/>
          <a:ln/>
        </p:spPr>
        <p:txBody>
          <a:bodyPr wrap="square" lIns="0" tIns="0" rIns="0" bIns="0" rtlCol="0" anchor="ctr"/>
          <a:lstStyle/>
          <a:p>
            <a:pPr indent="0" marL="0">
              <a:buNone/>
            </a:pPr>
            <a:r>
              <a:rPr lang="en-US" sz="1700" b="1" dirty="0">
                <a:solidFill>
                  <a:srgbClr val="E07B39"/>
                </a:solidFill>
                <a:latin typeface="Consolas" pitchFamily="34" charset="0"/>
                <a:ea typeface="Consolas" pitchFamily="34" charset="-122"/>
                <a:cs typeface="Consolas" pitchFamily="34" charset="-120"/>
              </a:rPr>
              <a:t>github.com/Kappapapa123/internal-mini-course</a:t>
            </a:r>
            <a:endParaRPr lang="en-US" sz="1700" dirty="0"/>
          </a:p>
        </p:txBody>
      </p:sp>
      <p:sp>
        <p:nvSpPr>
          <p:cNvPr id="4" name="Text 2"/>
          <p:cNvSpPr/>
          <p:nvPr/>
        </p:nvSpPr>
        <p:spPr>
          <a:xfrm>
            <a:off x="640080" y="3794760"/>
            <a:ext cx="6583680" cy="365760"/>
          </a:xfrm>
          <a:prstGeom prst="rect">
            <a:avLst/>
          </a:prstGeom>
          <a:noFill/>
          <a:ln/>
        </p:spPr>
        <p:txBody>
          <a:bodyPr wrap="square" lIns="0" tIns="0" rIns="0" bIns="0" rtlCol="0" anchor="ctr"/>
          <a:lstStyle/>
          <a:p>
            <a:pPr indent="0" marL="0">
              <a:buNone/>
            </a:pPr>
            <a:r>
              <a:rPr lang="en-US" sz="1400" dirty="0">
                <a:solidFill>
                  <a:srgbClr val="9AA6B2"/>
                </a:solidFill>
                <a:latin typeface="Segoe UI" pitchFamily="34" charset="0"/>
                <a:ea typeface="Segoe UI" pitchFamily="34" charset="-122"/>
                <a:cs typeface="Segoe UI" pitchFamily="34" charset="-120"/>
              </a:rPr>
              <a:t>Notebooks runnable on a laptop  ·  quiz in NotebookLM</a:t>
            </a:r>
            <a:endParaRPr lang="en-US" sz="1400" dirty="0"/>
          </a:p>
        </p:txBody>
      </p:sp>
      <p:sp>
        <p:nvSpPr>
          <p:cNvPr id="5" name="Text 3"/>
          <p:cNvSpPr/>
          <p:nvPr/>
        </p:nvSpPr>
        <p:spPr>
          <a:xfrm>
            <a:off x="640080" y="5120640"/>
            <a:ext cx="6583680" cy="365760"/>
          </a:xfrm>
          <a:prstGeom prst="rect">
            <a:avLst/>
          </a:prstGeom>
          <a:noFill/>
          <a:ln/>
        </p:spPr>
        <p:txBody>
          <a:bodyPr wrap="square" lIns="0" tIns="0" rIns="0" bIns="0" rtlCol="0" anchor="ctr"/>
          <a:lstStyle/>
          <a:p>
            <a:pPr indent="0" marL="0">
              <a:buNone/>
            </a:pPr>
            <a:r>
              <a:rPr lang="en-US" sz="1300" dirty="0">
                <a:solidFill>
                  <a:srgbClr val="9AA6B2"/>
                </a:solidFill>
                <a:latin typeface="Segoe UI" pitchFamily="34" charset="0"/>
                <a:ea typeface="Segoe UI" pitchFamily="34" charset="-122"/>
                <a:cs typeface="Segoe UI" pitchFamily="34" charset="-120"/>
              </a:rPr>
              <a:t>Keishi Suzuki  ·  University of Toronto  ·  June 2026</a:t>
            </a:r>
            <a:endParaRPr lang="en-US" sz="1300" dirty="0"/>
          </a:p>
        </p:txBody>
      </p:sp>
      <p:sp>
        <p:nvSpPr>
          <p:cNvPr id="6" name="Shape 4"/>
          <p:cNvSpPr/>
          <p:nvPr/>
        </p:nvSpPr>
        <p:spPr>
          <a:xfrm>
            <a:off x="7498080" y="2194560"/>
            <a:ext cx="4114800" cy="2606040"/>
          </a:xfrm>
          <a:prstGeom prst="roundRect">
            <a:avLst>
              <a:gd name="adj" fmla="val 1754"/>
            </a:avLst>
          </a:prstGeom>
          <a:solidFill>
            <a:srgbClr val="FFFFFF"/>
          </a:solidFill>
          <a:ln/>
          <a:effectLst>
            <a:outerShdw sx="100000" sy="100000" kx="0" ky="0" algn="bl" rotWithShape="0" blurRad="88900" dist="38100" dir="5400000">
              <a:srgbClr val="8A97A6">
                <a:alpha val="22000"/>
              </a:srgbClr>
            </a:outerShdw>
          </a:effectLst>
        </p:spPr>
      </p:sp>
      <p:pic>
        <p:nvPicPr>
          <p:cNvPr id="7" name="Image 0" descr="C:\Users\Keishi Suzuki\Projects\internal-mini-course\assets\figures\lr_schedule.png">    </p:cNvPr>
          <p:cNvPicPr>
            <a:picLocks noChangeAspect="1"/>
          </p:cNvPicPr>
          <p:nvPr/>
        </p:nvPicPr>
        <p:blipFill>
          <a:blip r:embed="rId1"/>
          <a:stretch>
            <a:fillRect/>
          </a:stretch>
        </p:blipFill>
        <p:spPr>
          <a:xfrm>
            <a:off x="7838412" y="2697480"/>
            <a:ext cx="3434137" cy="1737360"/>
          </a:xfrm>
          <a:prstGeom prst="rect">
            <a:avLst/>
          </a:prstGeom>
        </p:spPr>
      </p:pic>
      <p:sp>
        <p:nvSpPr>
          <p:cNvPr id="8" name="Text 5"/>
          <p:cNvSpPr/>
          <p:nvPr/>
        </p:nvSpPr>
        <p:spPr>
          <a:xfrm>
            <a:off x="7498080" y="4526280"/>
            <a:ext cx="41148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Segoe UI" pitchFamily="34" charset="0"/>
                <a:ea typeface="Segoe UI" pitchFamily="34" charset="-122"/>
                <a:cs typeface="Segoe UI" pitchFamily="34" charset="-120"/>
              </a:rPr>
              <a:t>the two-phase curve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Internal mini-course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nnU-Net with Pre-trained Models</dc:title>
  <dc:subject>PptxGenJS Presentation</dc:subject>
  <dc:creator>Keishi Suzuki</dc:creator>
  <cp:lastModifiedBy>Keishi Suzuki</cp:lastModifiedBy>
  <cp:revision>1</cp:revision>
  <dcterms:created xsi:type="dcterms:W3CDTF">2026-06-04T02:42:11Z</dcterms:created>
  <dcterms:modified xsi:type="dcterms:W3CDTF">2026-06-04T02:42:11Z</dcterms:modified>
</cp:coreProperties>
</file>